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55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1549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600" b="1">
                <a:solidFill>
                  <a:srgbClr val="113F59"/>
                </a:solidFill>
                <a:latin typeface="Microsoft YaHei"/>
              </a:defRPr>
            </a:pPr>
            <a:r>
              <a:rPr dirty="0"/>
              <a:t>Agent </a:t>
            </a:r>
            <a:r>
              <a:rPr lang="zh-CN" altLang="en-US" dirty="0"/>
              <a:t>项目</a:t>
            </a:r>
            <a:r>
              <a:rPr dirty="0"/>
              <a:t>：</a:t>
            </a:r>
            <a:r>
              <a:rPr lang="zh-CN" altLang="en-US" dirty="0"/>
              <a:t>一个智能对话体</a:t>
            </a:r>
            <a:endParaRPr dirty="0"/>
          </a:p>
          <a:p>
            <a:pPr>
              <a:spcAft>
                <a:spcPts val="40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rPr lang="zh-CN" altLang="en-US" dirty="0"/>
              <a:t>基于开放</a:t>
            </a:r>
            <a:r>
              <a:rPr dirty="0"/>
              <a:t> </a:t>
            </a:r>
            <a:r>
              <a:rPr lang="en-US" altLang="zh-CN" dirty="0"/>
              <a:t>MCP</a:t>
            </a:r>
            <a:r>
              <a:rPr dirty="0"/>
              <a:t> </a:t>
            </a:r>
            <a:r>
              <a:rPr lang="zh-CN" altLang="en-US" dirty="0"/>
              <a:t>协议的多模型融合与本地感知解决方案。</a:t>
            </a:r>
            <a:br>
              <a:rPr lang="zh-CN" altLang="en-US" dirty="0"/>
            </a:br>
            <a:r>
              <a:rPr lang="zh-CN" altLang="en-US" dirty="0"/>
              <a:t>一份完整的项目汇报，详细阐述大模型开发框架的核心架构设计与测试实践。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43369"/>
            <a:ext cx="10362895" cy="7591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什么是</a:t>
            </a:r>
            <a:r>
              <a:rPr dirty="0"/>
              <a:t> Agent </a:t>
            </a:r>
            <a:r>
              <a:rPr lang="zh-CN" altLang="en-US" dirty="0"/>
              <a:t>项目</a:t>
            </a:r>
            <a:r>
              <a:rPr dirty="0"/>
              <a:t>？</a:t>
            </a:r>
          </a:p>
          <a:p>
            <a:pPr>
              <a:defRPr sz="1400">
                <a:solidFill>
                  <a:srgbClr val="E07A5F"/>
                </a:solidFill>
                <a:latin typeface="Microsoft YaHei"/>
              </a:defRPr>
            </a:pPr>
            <a:r>
              <a:rPr lang="en-US" altLang="zh-CN" dirty="0"/>
              <a:t>AI Agent </a:t>
            </a:r>
            <a:r>
              <a:rPr lang="zh-CN" altLang="en-US" dirty="0"/>
              <a:t>核心开发框架：专为将模型推理输出转化为安全、可验证的结构化行为序列而设计。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3145536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2779776" cy="1410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可验证接口</a:t>
            </a:r>
          </a:p>
          <a:p>
            <a:pPr>
              <a:spcAft>
                <a:spcPts val="1000"/>
              </a:spcAft>
              <a:defRPr sz="1200">
                <a:solidFill>
                  <a:srgbClr val="E07A5F"/>
                </a:solidFill>
                <a:latin typeface="Microsoft YaHei"/>
              </a:defRPr>
            </a:pPr>
            <a:r>
              <a:rPr lang="en-US" altLang="zh-CN" dirty="0"/>
              <a:t>—— </a:t>
            </a:r>
            <a:r>
              <a:rPr lang="zh-CN" altLang="en-US" dirty="0"/>
              <a:t>标准化模型输出形式</a:t>
            </a:r>
          </a:p>
          <a:p>
            <a:pPr>
              <a:defRPr sz="1100">
                <a:solidFill>
                  <a:srgbClr val="333333"/>
                </a:solidFill>
                <a:latin typeface="Microsoft YaHei"/>
              </a:defRPr>
            </a:pPr>
            <a:r>
              <a:rPr lang="zh-CN" altLang="en-US" dirty="0"/>
              <a:t>利用 </a:t>
            </a:r>
            <a:r>
              <a:rPr lang="en-US" altLang="zh-CN" dirty="0" err="1"/>
              <a:t>Pydantic</a:t>
            </a:r>
            <a:r>
              <a:rPr lang="zh-CN" altLang="en-US" dirty="0"/>
              <a:t> 规范定义严格的数据边界，将大模型不确定的自然语言输出过滤为安全、高可靠的接口形态，从根本上杜绝意外无效调用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17136" y="1920240"/>
            <a:ext cx="3145536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00016" y="2103120"/>
            <a:ext cx="277977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多步编排</a:t>
            </a:r>
          </a:p>
          <a:p>
            <a:pPr>
              <a:spcAft>
                <a:spcPts val="1000"/>
              </a:spcAft>
              <a:defRPr sz="1200">
                <a:solidFill>
                  <a:srgbClr val="E07A5F"/>
                </a:solidFill>
                <a:latin typeface="Microsoft YaHei"/>
              </a:defRPr>
            </a:pPr>
            <a:r>
              <a:rPr lang="en-US" altLang="zh-CN" dirty="0"/>
              <a:t>—— </a:t>
            </a:r>
            <a:r>
              <a:rPr lang="zh-CN" altLang="en-US" dirty="0"/>
              <a:t>复杂行为自动串行级联</a:t>
            </a:r>
          </a:p>
          <a:p>
            <a:pPr>
              <a:defRPr sz="1100">
                <a:solidFill>
                  <a:srgbClr val="333333"/>
                </a:solidFill>
                <a:latin typeface="Microsoft YaHei"/>
              </a:defRPr>
            </a:pPr>
            <a:r>
              <a:rPr lang="zh-CN" altLang="en-US" dirty="0"/>
              <a:t>支持根据用户的任务要求，自主判断行为依赖，将复杂的本地读写、查询、识别任务编排成高可用的流程序列，自动化分步落地。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119872" y="1920240"/>
            <a:ext cx="3145536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65097" y="2103120"/>
            <a:ext cx="277977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全面扩展</a:t>
            </a:r>
            <a:endParaRPr dirty="0"/>
          </a:p>
          <a:p>
            <a:pPr>
              <a:spcAft>
                <a:spcPts val="1000"/>
              </a:spcAft>
              <a:defRPr sz="1200">
                <a:solidFill>
                  <a:srgbClr val="E07A5F"/>
                </a:solidFill>
                <a:latin typeface="Microsoft YaHei"/>
              </a:defRPr>
            </a:pPr>
            <a:r>
              <a:rPr dirty="0"/>
              <a:t>—— </a:t>
            </a:r>
            <a:r>
              <a:rPr lang="zh-CN" altLang="en-US" dirty="0"/>
              <a:t>解耦工具层与模型层</a:t>
            </a:r>
            <a:endParaRPr dirty="0"/>
          </a:p>
          <a:p>
            <a:pPr>
              <a:defRPr sz="1100">
                <a:solidFill>
                  <a:srgbClr val="333333"/>
                </a:solidFill>
                <a:latin typeface="Microsoft YaHei"/>
              </a:defRPr>
            </a:pPr>
            <a:r>
              <a:rPr lang="zh-CN" altLang="en-US" dirty="0"/>
              <a:t>核心通信依靠统一标准协议，让各类大语言模型（</a:t>
            </a:r>
            <a:r>
              <a:rPr lang="en-US" altLang="zh-CN" dirty="0"/>
              <a:t>LLM</a:t>
            </a:r>
            <a:r>
              <a:rPr lang="zh-CN" altLang="en-US" dirty="0"/>
              <a:t>）能完美兼容、按需替换，且具备无限扩展本地底层工具链的高开放性。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核心设计：基于 </a:t>
            </a:r>
            <a:r>
              <a:rPr lang="en-US" altLang="zh-CN" dirty="0"/>
              <a:t>MCP </a:t>
            </a:r>
            <a:r>
              <a:rPr lang="zh-CN" altLang="en-US" dirty="0"/>
              <a:t>协议的架构优势</a:t>
            </a:r>
            <a:endParaRPr dirty="0"/>
          </a:p>
          <a:p>
            <a:pPr>
              <a:defRPr sz="1400">
                <a:solidFill>
                  <a:srgbClr val="E07A5F"/>
                </a:solidFill>
                <a:latin typeface="Microsoft YaHei"/>
              </a:defRPr>
            </a:pPr>
            <a:r>
              <a:rPr lang="en-US" dirty="0"/>
              <a:t>Model Context Protocol (MCP) </a:t>
            </a:r>
            <a:r>
              <a:rPr lang="zh-CN" altLang="en-US" dirty="0"/>
              <a:t>彻底打通大模型推理与本地底层安全的交互通路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3145536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277977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客户端会话 </a:t>
            </a:r>
            <a:r>
              <a:rPr lang="en-US" altLang="zh-CN" dirty="0"/>
              <a:t>(</a:t>
            </a:r>
            <a:r>
              <a:rPr lang="en-US" dirty="0"/>
              <a:t>Client)</a:t>
            </a:r>
            <a:endParaRPr dirty="0"/>
          </a:p>
          <a:p>
            <a:pPr>
              <a:spcAft>
                <a:spcPts val="1000"/>
              </a:spcAft>
              <a:defRPr sz="1200">
                <a:solidFill>
                  <a:srgbClr val="E07A5F"/>
                </a:solidFill>
                <a:latin typeface="Microsoft YaHei"/>
              </a:defRPr>
            </a:pPr>
            <a:r>
              <a:rPr dirty="0"/>
              <a:t>—— </a:t>
            </a:r>
            <a:r>
              <a:rPr lang="zh-CN" altLang="en-US" dirty="0"/>
              <a:t>解耦模型适配层</a:t>
            </a:r>
            <a:endParaRPr dirty="0"/>
          </a:p>
          <a:p>
            <a:pPr>
              <a:defRPr sz="1100">
                <a:solidFill>
                  <a:srgbClr val="333333"/>
                </a:solidFill>
                <a:latin typeface="Microsoft YaHei"/>
              </a:defRPr>
            </a:pPr>
            <a:r>
              <a:rPr lang="en-US" altLang="zh-CN" dirty="0" err="1"/>
              <a:t>ClientSession</a:t>
            </a:r>
            <a:r>
              <a:rPr lang="zh-CN" altLang="en-US" dirty="0"/>
              <a:t> 负责接入 </a:t>
            </a:r>
            <a:r>
              <a:rPr lang="en-US" altLang="zh-CN" dirty="0"/>
              <a:t>Gemini 2.0 </a:t>
            </a:r>
            <a:r>
              <a:rPr lang="zh-CN" altLang="en-US" dirty="0"/>
              <a:t>与 </a:t>
            </a:r>
            <a:r>
              <a:rPr lang="en-US" altLang="zh-CN" dirty="0" err="1"/>
              <a:t>DeepSeek</a:t>
            </a:r>
            <a:r>
              <a:rPr lang="zh-CN" altLang="en-US" dirty="0"/>
              <a:t>，解析由底层工具链传输来的工具 </a:t>
            </a:r>
            <a:r>
              <a:rPr lang="en-US" altLang="zh-CN" dirty="0"/>
              <a:t>Schema</a:t>
            </a:r>
            <a:r>
              <a:rPr lang="zh-CN" altLang="en-US" dirty="0"/>
              <a:t>，在请求前动态适配，避免硬编码适配。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17136" y="1920240"/>
            <a:ext cx="3145536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00016" y="2103120"/>
            <a:ext cx="277977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3F59"/>
                </a:solidFill>
                <a:latin typeface="Microsoft YaHei"/>
              </a:defRPr>
            </a:pPr>
            <a:r>
              <a:rPr lang="en-US" dirty="0" err="1"/>
              <a:t>Stdio</a:t>
            </a:r>
            <a:r>
              <a:rPr lang="en-US" dirty="0"/>
              <a:t> </a:t>
            </a:r>
            <a:r>
              <a:rPr lang="zh-CN" altLang="en-US" dirty="0"/>
              <a:t>通信管道</a:t>
            </a:r>
            <a:endParaRPr dirty="0"/>
          </a:p>
          <a:p>
            <a:pPr>
              <a:spcAft>
                <a:spcPts val="1000"/>
              </a:spcAft>
              <a:defRPr sz="1200">
                <a:solidFill>
                  <a:srgbClr val="E07A5F"/>
                </a:solidFill>
                <a:latin typeface="Microsoft YaHei"/>
              </a:defRPr>
            </a:pPr>
            <a:r>
              <a:rPr dirty="0"/>
              <a:t>—— </a:t>
            </a:r>
            <a:r>
              <a:rPr lang="zh-CN" altLang="en-US" dirty="0"/>
              <a:t>标准、低延时数据交互</a:t>
            </a:r>
            <a:endParaRPr dirty="0"/>
          </a:p>
          <a:p>
            <a:pPr>
              <a:defRPr sz="1100">
                <a:solidFill>
                  <a:srgbClr val="333333"/>
                </a:solidFill>
                <a:latin typeface="Microsoft YaHei"/>
              </a:defRPr>
            </a:pPr>
            <a:r>
              <a:rPr lang="zh-CN" altLang="en-US" dirty="0"/>
              <a:t>基于 </a:t>
            </a:r>
            <a:r>
              <a:rPr lang="en-US" altLang="zh-CN" dirty="0" err="1"/>
              <a:t>stdio</a:t>
            </a:r>
            <a:r>
              <a:rPr lang="zh-CN" altLang="en-US" dirty="0"/>
              <a:t> 标准流通信模式，安全构建双端通信网关。对本地操作系统底层资源调用高效，数据不通过第三方云中转，保障私密。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119872" y="1920240"/>
            <a:ext cx="3145536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02752" y="2103120"/>
            <a:ext cx="277977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工具运行环境 </a:t>
            </a:r>
            <a:r>
              <a:rPr lang="en-US" altLang="zh-CN" dirty="0"/>
              <a:t>(</a:t>
            </a:r>
            <a:r>
              <a:rPr lang="en-US" dirty="0"/>
              <a:t>Server)</a:t>
            </a:r>
            <a:endParaRPr dirty="0"/>
          </a:p>
          <a:p>
            <a:pPr>
              <a:spcAft>
                <a:spcPts val="1000"/>
              </a:spcAft>
              <a:defRPr sz="1200">
                <a:solidFill>
                  <a:srgbClr val="E07A5F"/>
                </a:solidFill>
                <a:latin typeface="Microsoft YaHei"/>
              </a:defRPr>
            </a:pPr>
            <a:r>
              <a:rPr dirty="0"/>
              <a:t>—— </a:t>
            </a:r>
            <a:r>
              <a:rPr lang="en-US" dirty="0" err="1"/>
              <a:t>FastMCP</a:t>
            </a:r>
            <a:r>
              <a:rPr lang="en-US" dirty="0"/>
              <a:t> </a:t>
            </a:r>
            <a:r>
              <a:rPr lang="zh-CN" altLang="en-US" dirty="0"/>
              <a:t>快捷声明</a:t>
            </a:r>
            <a:endParaRPr dirty="0"/>
          </a:p>
          <a:p>
            <a:pPr>
              <a:defRPr sz="1100">
                <a:solidFill>
                  <a:srgbClr val="333333"/>
                </a:solidFill>
                <a:latin typeface="Microsoft YaHei"/>
              </a:defRPr>
            </a:pPr>
            <a:r>
              <a:rPr lang="zh-CN" altLang="en-US" dirty="0"/>
              <a:t>本地基于 </a:t>
            </a:r>
            <a:r>
              <a:rPr lang="en-US" altLang="zh-CN" dirty="0" err="1"/>
              <a:t>FastMCP</a:t>
            </a:r>
            <a:r>
              <a:rPr lang="zh-CN" altLang="en-US" dirty="0"/>
              <a:t> 工具服务器搭建。开发人员只需为原生 </a:t>
            </a:r>
            <a:r>
              <a:rPr lang="en-US" altLang="zh-CN" dirty="0"/>
              <a:t>Python </a:t>
            </a:r>
            <a:r>
              <a:rPr lang="zh-CN" altLang="en-US" dirty="0"/>
              <a:t>函数增加 </a:t>
            </a:r>
            <a:r>
              <a:rPr lang="en-US" altLang="zh-CN" dirty="0"/>
              <a:t>@mcp.tool() </a:t>
            </a:r>
            <a:r>
              <a:rPr lang="zh-CN" altLang="en-US" dirty="0"/>
              <a:t>装饰器，即可自动构建合规工具网关。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推荐技术栈 </a:t>
            </a:r>
            <a:r>
              <a:rPr lang="en-US" altLang="zh-CN" dirty="0"/>
              <a:t>(2026)</a:t>
            </a:r>
          </a:p>
          <a:p>
            <a:pPr>
              <a:defRPr sz="1400">
                <a:solidFill>
                  <a:srgbClr val="E07A5F"/>
                </a:solidFill>
                <a:latin typeface="Microsoft YaHei"/>
              </a:defRPr>
            </a:pPr>
            <a:r>
              <a:rPr lang="zh-CN" altLang="en-US" dirty="0"/>
              <a:t>基于现代 </a:t>
            </a:r>
            <a:r>
              <a:rPr lang="en-US" altLang="zh-CN" dirty="0"/>
              <a:t>Python 3.11 </a:t>
            </a:r>
            <a:r>
              <a:rPr lang="zh-CN" altLang="en-US" dirty="0"/>
              <a:t>异构框架，构建的高性能微服务级 </a:t>
            </a:r>
            <a:r>
              <a:rPr lang="en-US" altLang="zh-CN" dirty="0"/>
              <a:t>Agent </a:t>
            </a:r>
            <a:r>
              <a:rPr lang="zh-CN" altLang="en-US" dirty="0"/>
              <a:t>平台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3145536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277977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3F59"/>
                </a:solidFill>
                <a:latin typeface="Microsoft YaHei"/>
              </a:defRPr>
            </a:pPr>
            <a:r>
              <a:rPr lang="en-US" altLang="zh-CN" dirty="0"/>
              <a:t>Python 3.11+</a:t>
            </a:r>
          </a:p>
          <a:p>
            <a:pPr>
              <a:spcAft>
                <a:spcPts val="1000"/>
              </a:spcAft>
              <a:defRPr sz="1200">
                <a:solidFill>
                  <a:srgbClr val="E07A5F"/>
                </a:solidFill>
                <a:latin typeface="Microsoft YaHei"/>
              </a:defRPr>
            </a:pPr>
            <a:r>
              <a:rPr lang="en-US" altLang="zh-CN" dirty="0"/>
              <a:t>—— </a:t>
            </a:r>
            <a:r>
              <a:rPr lang="zh-CN" altLang="en-US" dirty="0"/>
              <a:t>极佳的语法与性能支持</a:t>
            </a:r>
          </a:p>
          <a:p>
            <a:pPr>
              <a:defRPr sz="1100">
                <a:solidFill>
                  <a:srgbClr val="333333"/>
                </a:solidFill>
                <a:latin typeface="Microsoft YaHei"/>
              </a:defRPr>
            </a:pPr>
            <a:r>
              <a:rPr lang="zh-CN" altLang="en-US" dirty="0"/>
              <a:t>深度使用类型提示</a:t>
            </a:r>
            <a:r>
              <a:rPr lang="en-US" altLang="zh-CN" dirty="0"/>
              <a:t>(Type Hinting)</a:t>
            </a:r>
            <a:r>
              <a:rPr lang="zh-CN" altLang="en-US" dirty="0"/>
              <a:t>和 </a:t>
            </a:r>
            <a:r>
              <a:rPr lang="en-US" altLang="zh-CN" dirty="0" err="1"/>
              <a:t>asyncio</a:t>
            </a:r>
            <a:r>
              <a:rPr lang="zh-CN" altLang="en-US" dirty="0"/>
              <a:t> 原生协程，从而支撑多任务并行运行（例如同时调度多个爬虫或者执行高阶图片矩阵识别任务）。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17136" y="1920240"/>
            <a:ext cx="3145536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00016" y="2103120"/>
            <a:ext cx="277977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3F59"/>
                </a:solidFill>
                <a:latin typeface="Microsoft YaHei"/>
              </a:defRPr>
            </a:pPr>
            <a:r>
              <a:rPr lang="en-US" dirty="0" err="1"/>
              <a:t>FastAPI</a:t>
            </a:r>
            <a:r>
              <a:rPr lang="en-US" dirty="0"/>
              <a:t> / </a:t>
            </a:r>
            <a:r>
              <a:rPr lang="en-US" dirty="0" err="1"/>
              <a:t>Websocket</a:t>
            </a:r>
            <a:endParaRPr lang="en-US" dirty="0"/>
          </a:p>
          <a:p>
            <a:pPr>
              <a:spcAft>
                <a:spcPts val="1000"/>
              </a:spcAft>
              <a:defRPr sz="1200">
                <a:solidFill>
                  <a:srgbClr val="E07A5F"/>
                </a:solidFill>
                <a:latin typeface="Microsoft YaHei"/>
              </a:defRPr>
            </a:pPr>
            <a:r>
              <a:rPr lang="en-US" dirty="0"/>
              <a:t>—— </a:t>
            </a:r>
            <a:r>
              <a:rPr lang="zh-CN" altLang="en-US" dirty="0"/>
              <a:t>低延时双向实时交互管道</a:t>
            </a:r>
          </a:p>
          <a:p>
            <a:pPr>
              <a:defRPr sz="1100">
                <a:solidFill>
                  <a:srgbClr val="333333"/>
                </a:solidFill>
                <a:latin typeface="Microsoft YaHei"/>
              </a:defRPr>
            </a:pPr>
            <a:r>
              <a:rPr lang="zh-CN" altLang="en-US" dirty="0"/>
              <a:t>基于高度成熟、无阻塞的 </a:t>
            </a:r>
            <a:r>
              <a:rPr lang="en-US" dirty="0"/>
              <a:t>ASGI </a:t>
            </a:r>
            <a:r>
              <a:rPr lang="zh-CN" altLang="en-US" dirty="0"/>
              <a:t>异步高性能接口框架。完美协作 </a:t>
            </a:r>
            <a:r>
              <a:rPr lang="en-US" dirty="0" err="1"/>
              <a:t>Websocket</a:t>
            </a:r>
            <a:r>
              <a:rPr lang="en-US" dirty="0"/>
              <a:t> </a:t>
            </a:r>
            <a:r>
              <a:rPr lang="zh-CN" altLang="en-US" dirty="0"/>
              <a:t>协议，实现 </a:t>
            </a:r>
            <a:r>
              <a:rPr lang="en-US" dirty="0"/>
              <a:t>AI </a:t>
            </a:r>
            <a:r>
              <a:rPr lang="zh-CN" altLang="en-US" dirty="0"/>
              <a:t>交互及 </a:t>
            </a:r>
            <a:r>
              <a:rPr lang="en-US" dirty="0"/>
              <a:t>Thinking </a:t>
            </a:r>
            <a:r>
              <a:rPr lang="zh-CN" altLang="en-US" dirty="0"/>
              <a:t>过程全流式、瞬发推送前端。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920240"/>
            <a:ext cx="3145536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02752" y="2103120"/>
            <a:ext cx="277977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3F59"/>
                </a:solidFill>
                <a:latin typeface="Microsoft YaHei"/>
              </a:defRPr>
            </a:pPr>
            <a:r>
              <a:rPr lang="en-US" altLang="zh-CN" dirty="0" err="1"/>
              <a:t>DeepSeek</a:t>
            </a:r>
            <a:r>
              <a:rPr lang="zh-CN" altLang="en-US" dirty="0"/>
              <a:t> </a:t>
            </a:r>
            <a:r>
              <a:rPr lang="en-US" altLang="zh-CN" dirty="0"/>
              <a:t>/ Gemini</a:t>
            </a:r>
          </a:p>
          <a:p>
            <a:pPr>
              <a:spcAft>
                <a:spcPts val="1000"/>
              </a:spcAft>
              <a:defRPr sz="1200">
                <a:solidFill>
                  <a:srgbClr val="E07A5F"/>
                </a:solidFill>
                <a:latin typeface="Microsoft YaHei"/>
              </a:defRPr>
            </a:pPr>
            <a:r>
              <a:rPr lang="en-US" altLang="zh-CN" dirty="0"/>
              <a:t>—— </a:t>
            </a:r>
            <a:r>
              <a:rPr lang="zh-CN" altLang="en-US" dirty="0"/>
              <a:t>双核云端模型切换</a:t>
            </a:r>
          </a:p>
          <a:p>
            <a:pPr>
              <a:defRPr sz="1100">
                <a:solidFill>
                  <a:srgbClr val="333333"/>
                </a:solidFill>
                <a:latin typeface="Microsoft YaHei"/>
              </a:defRPr>
            </a:pPr>
            <a:r>
              <a:rPr lang="zh-CN" altLang="en-US" dirty="0"/>
              <a:t>提供高度统一的中间参数解析结构。在低算力要求场景中使用 </a:t>
            </a:r>
            <a:r>
              <a:rPr lang="en-US" altLang="zh-CN" dirty="0"/>
              <a:t>Gemini 2.0 </a:t>
            </a:r>
            <a:r>
              <a:rPr lang="zh-CN" altLang="en-US" dirty="0"/>
              <a:t>提高反馈效率，在重深度逻辑中则使用 </a:t>
            </a:r>
            <a:r>
              <a:rPr lang="en-US" altLang="zh-CN" dirty="0" err="1"/>
              <a:t>DeepSeek</a:t>
            </a:r>
            <a:r>
              <a:rPr lang="zh-CN" altLang="en-US" dirty="0"/>
              <a:t> 增强健壮度。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项目实际架构与数据流向</a:t>
            </a:r>
          </a:p>
          <a:p>
            <a:pPr>
              <a:defRPr sz="1400">
                <a:solidFill>
                  <a:srgbClr val="E07A5F"/>
                </a:solidFill>
                <a:latin typeface="Microsoft YaHei"/>
              </a:defRPr>
            </a:pPr>
            <a:r>
              <a:rPr lang="zh-CN" altLang="en-US" dirty="0"/>
              <a:t>前端 </a:t>
            </a:r>
            <a:r>
              <a:rPr lang="en-US" altLang="zh-CN" dirty="0"/>
              <a:t>WebSocket </a:t>
            </a:r>
            <a:r>
              <a:rPr lang="zh-CN" altLang="en-US" dirty="0"/>
              <a:t>到后端 </a:t>
            </a:r>
            <a:r>
              <a:rPr lang="en-US" altLang="zh-CN" dirty="0" err="1"/>
              <a:t>Stdio</a:t>
            </a:r>
            <a:r>
              <a:rPr lang="zh-CN" altLang="en-US" dirty="0"/>
              <a:t> 管道的物理级拓扑架构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3145536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277977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前端 </a:t>
            </a:r>
            <a:r>
              <a:rPr lang="en-US" altLang="zh-CN" dirty="0" err="1"/>
              <a:t>WebUI</a:t>
            </a:r>
            <a:r>
              <a:rPr lang="zh-CN" altLang="en-US" dirty="0"/>
              <a:t> 交互层</a:t>
            </a:r>
          </a:p>
          <a:p>
            <a:pPr>
              <a:spcAft>
                <a:spcPts val="1000"/>
              </a:spcAft>
              <a:defRPr sz="1200">
                <a:solidFill>
                  <a:srgbClr val="E07A5F"/>
                </a:solidFill>
                <a:latin typeface="Microsoft YaHei"/>
              </a:defRPr>
            </a:pPr>
            <a:r>
              <a:rPr lang="en-US" altLang="zh-CN" dirty="0"/>
              <a:t>—— </a:t>
            </a:r>
            <a:r>
              <a:rPr lang="zh-CN" altLang="en-US" dirty="0"/>
              <a:t>单页面响应式连接机制</a:t>
            </a:r>
          </a:p>
          <a:p>
            <a:pPr>
              <a:defRPr sz="1100">
                <a:solidFill>
                  <a:srgbClr val="333333"/>
                </a:solidFill>
                <a:latin typeface="Microsoft YaHei"/>
              </a:defRPr>
            </a:pPr>
            <a:r>
              <a:rPr lang="zh-CN" altLang="en-US" dirty="0"/>
              <a:t>用户通过浏览器前端（</a:t>
            </a:r>
            <a:r>
              <a:rPr lang="en-US" altLang="zh-CN" dirty="0"/>
              <a:t>HTML5/JS</a:t>
            </a:r>
            <a:r>
              <a:rPr lang="zh-CN" altLang="en-US" dirty="0"/>
              <a:t>）初始化 </a:t>
            </a:r>
            <a:r>
              <a:rPr lang="en-US" altLang="zh-CN" dirty="0"/>
              <a:t>WebSocket</a:t>
            </a:r>
            <a:r>
              <a:rPr lang="zh-CN" altLang="en-US" dirty="0"/>
              <a:t>。模型选择信号和对话数据以 </a:t>
            </a:r>
            <a:r>
              <a:rPr lang="en-US" altLang="zh-CN" dirty="0"/>
              <a:t>JSON </a:t>
            </a:r>
            <a:r>
              <a:rPr lang="zh-CN" altLang="en-US" dirty="0"/>
              <a:t>格式双向传递，并支持控制台式 </a:t>
            </a:r>
            <a:r>
              <a:rPr lang="en-US" altLang="zh-CN" dirty="0"/>
              <a:t>Thinking </a:t>
            </a:r>
            <a:r>
              <a:rPr lang="zh-CN" altLang="en-US" dirty="0"/>
              <a:t>日志在对应气泡中解包显示。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17136" y="1920240"/>
            <a:ext cx="3145536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00016" y="2103120"/>
            <a:ext cx="277977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后端 </a:t>
            </a:r>
            <a:r>
              <a:rPr lang="en-US" altLang="zh-CN" dirty="0"/>
              <a:t>ASGI </a:t>
            </a:r>
            <a:r>
              <a:rPr lang="zh-CN" altLang="en-US" dirty="0"/>
              <a:t>中转网关</a:t>
            </a:r>
          </a:p>
          <a:p>
            <a:pPr>
              <a:spcAft>
                <a:spcPts val="1000"/>
              </a:spcAft>
              <a:defRPr sz="1200">
                <a:solidFill>
                  <a:srgbClr val="E07A5F"/>
                </a:solidFill>
                <a:latin typeface="Microsoft YaHei"/>
              </a:defRPr>
            </a:pPr>
            <a:r>
              <a:rPr lang="en-US" altLang="zh-CN" dirty="0"/>
              <a:t>—— </a:t>
            </a:r>
            <a:r>
              <a:rPr lang="en-US" altLang="zh-CN" dirty="0" err="1"/>
              <a:t>FastAPI</a:t>
            </a:r>
            <a:r>
              <a:rPr lang="zh-CN" altLang="en-US" dirty="0"/>
              <a:t> 高并发长轮询</a:t>
            </a:r>
          </a:p>
          <a:p>
            <a:pPr>
              <a:defRPr sz="1100">
                <a:solidFill>
                  <a:srgbClr val="333333"/>
                </a:solidFill>
                <a:latin typeface="Microsoft YaHei"/>
              </a:defRPr>
            </a:pPr>
            <a:r>
              <a:rPr lang="zh-CN" altLang="en-US" dirty="0"/>
              <a:t>基于 </a:t>
            </a:r>
            <a:r>
              <a:rPr lang="en-US" altLang="zh-CN" dirty="0" err="1"/>
              <a:t>FastAPI</a:t>
            </a:r>
            <a:r>
              <a:rPr lang="zh-CN" altLang="en-US" dirty="0"/>
              <a:t> 框架管理 </a:t>
            </a:r>
            <a:r>
              <a:rPr lang="en-US" altLang="zh-CN" dirty="0"/>
              <a:t>WebSocket </a:t>
            </a:r>
            <a:r>
              <a:rPr lang="zh-CN" altLang="en-US" dirty="0"/>
              <a:t>连接生命周期。接收数据后，网关在内部通过异步客户端（</a:t>
            </a:r>
            <a:r>
              <a:rPr lang="en-US" altLang="zh-CN" dirty="0" err="1"/>
              <a:t>AsyncOpenAI</a:t>
            </a:r>
            <a:r>
              <a:rPr lang="zh-CN" altLang="en-US" dirty="0"/>
              <a:t> 或 </a:t>
            </a:r>
            <a:r>
              <a:rPr lang="en-US" altLang="zh-CN" dirty="0" err="1"/>
              <a:t>genai.Client</a:t>
            </a:r>
            <a:r>
              <a:rPr lang="zh-CN" altLang="en-US" dirty="0"/>
              <a:t>）向云端 </a:t>
            </a:r>
            <a:r>
              <a:rPr lang="en-US" altLang="zh-CN" dirty="0"/>
              <a:t>API </a:t>
            </a:r>
            <a:r>
              <a:rPr lang="zh-CN" altLang="en-US" dirty="0"/>
              <a:t>投递多模态或工具解析请求。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920240"/>
            <a:ext cx="3145536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02752" y="2103120"/>
            <a:ext cx="277977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工具层 </a:t>
            </a:r>
            <a:r>
              <a:rPr lang="en-US" altLang="zh-CN" dirty="0"/>
              <a:t>MCP </a:t>
            </a:r>
            <a:r>
              <a:rPr lang="zh-CN" altLang="en-US" dirty="0"/>
              <a:t>服务器</a:t>
            </a:r>
          </a:p>
          <a:p>
            <a:pPr>
              <a:spcAft>
                <a:spcPts val="1000"/>
              </a:spcAft>
              <a:defRPr sz="1200">
                <a:solidFill>
                  <a:srgbClr val="E07A5F"/>
                </a:solidFill>
                <a:latin typeface="Microsoft YaHei"/>
              </a:defRPr>
            </a:pPr>
            <a:r>
              <a:rPr lang="en-US" altLang="zh-CN" dirty="0"/>
              <a:t>—— </a:t>
            </a:r>
            <a:r>
              <a:rPr lang="en-US" altLang="zh-CN" dirty="0" err="1"/>
              <a:t>Stdio</a:t>
            </a:r>
            <a:r>
              <a:rPr lang="zh-CN" altLang="en-US" dirty="0"/>
              <a:t> 子进程异步通道</a:t>
            </a:r>
          </a:p>
          <a:p>
            <a:pPr>
              <a:defRPr sz="1100">
                <a:solidFill>
                  <a:srgbClr val="333333"/>
                </a:solidFill>
                <a:latin typeface="Microsoft YaHei"/>
              </a:defRPr>
            </a:pPr>
            <a:r>
              <a:rPr lang="zh-CN" altLang="en-US" dirty="0"/>
              <a:t>大模型发出 </a:t>
            </a:r>
            <a:r>
              <a:rPr lang="en-US" altLang="zh-CN" dirty="0" err="1"/>
              <a:t>ToolCall</a:t>
            </a:r>
            <a:r>
              <a:rPr lang="zh-CN" altLang="en-US" dirty="0"/>
              <a:t> 决策时，网关拦截并将其转化为本地 </a:t>
            </a:r>
            <a:r>
              <a:rPr lang="en-US" altLang="zh-CN" dirty="0" err="1"/>
              <a:t>Stdio</a:t>
            </a:r>
            <a:r>
              <a:rPr lang="zh-CN" altLang="en-US" dirty="0"/>
              <a:t> 指令，通过 </a:t>
            </a:r>
            <a:r>
              <a:rPr lang="en-US" altLang="zh-CN" dirty="0" err="1"/>
              <a:t>StdIO</a:t>
            </a:r>
            <a:r>
              <a:rPr lang="zh-CN" altLang="en-US" dirty="0"/>
              <a:t> 管道唤起独立子进程 </a:t>
            </a:r>
            <a:r>
              <a:rPr lang="en-US" altLang="zh-CN" dirty="0"/>
              <a:t>`server.py`</a:t>
            </a:r>
            <a:r>
              <a:rPr lang="zh-CN" altLang="en-US" dirty="0"/>
              <a:t>，执行结束后数据逆向回传大模型。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项目部署流程与沙箱配置</a:t>
            </a:r>
          </a:p>
          <a:p>
            <a:pPr>
              <a:defRPr sz="1400">
                <a:solidFill>
                  <a:srgbClr val="E07A5F"/>
                </a:solidFill>
                <a:latin typeface="Microsoft YaHei"/>
              </a:defRPr>
            </a:pPr>
            <a:r>
              <a:rPr lang="zh-CN" altLang="en-US" dirty="0"/>
              <a:t>三步轻量化本地配置，确保云</a:t>
            </a:r>
            <a:r>
              <a:rPr lang="en-US" altLang="zh-CN" dirty="0"/>
              <a:t>/</a:t>
            </a:r>
            <a:r>
              <a:rPr lang="zh-CN" altLang="en-US" dirty="0"/>
              <a:t>端环境一键激活运行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3145536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277977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步骤 </a:t>
            </a:r>
            <a:r>
              <a:rPr lang="en-US" altLang="zh-CN" dirty="0"/>
              <a:t>1</a:t>
            </a:r>
            <a:r>
              <a:rPr lang="zh-CN" altLang="en-US" dirty="0"/>
              <a:t>：准备环境与依赖</a:t>
            </a:r>
          </a:p>
          <a:p>
            <a:pPr>
              <a:spcAft>
                <a:spcPts val="1000"/>
              </a:spcAft>
              <a:defRPr sz="1200">
                <a:solidFill>
                  <a:srgbClr val="E07A5F"/>
                </a:solidFill>
                <a:latin typeface="Microsoft YaHei"/>
              </a:defRPr>
            </a:pPr>
            <a:r>
              <a:rPr lang="en-US" altLang="zh-CN" dirty="0"/>
              <a:t>—— </a:t>
            </a:r>
            <a:r>
              <a:rPr lang="zh-CN" altLang="en-US" dirty="0"/>
              <a:t>安装 </a:t>
            </a:r>
            <a:r>
              <a:rPr lang="en-US" dirty="0"/>
              <a:t>Python </a:t>
            </a:r>
            <a:r>
              <a:rPr lang="zh-CN" altLang="en-US" dirty="0"/>
              <a:t>及 </a:t>
            </a:r>
            <a:r>
              <a:rPr lang="en-US" dirty="0"/>
              <a:t>AI </a:t>
            </a:r>
            <a:r>
              <a:rPr lang="zh-CN" altLang="en-US" dirty="0"/>
              <a:t>依赖包</a:t>
            </a:r>
          </a:p>
          <a:p>
            <a:pPr>
              <a:defRPr sz="1100">
                <a:solidFill>
                  <a:srgbClr val="333333"/>
                </a:solidFill>
                <a:latin typeface="Microsoft YaHei"/>
              </a:defRPr>
            </a:pPr>
            <a:r>
              <a:rPr lang="en-US" altLang="zh-CN" dirty="0"/>
              <a:t>1. </a:t>
            </a:r>
            <a:r>
              <a:rPr lang="zh-CN" altLang="en-US" dirty="0"/>
              <a:t>在系统中克隆代码仓库。</a:t>
            </a:r>
            <a:br>
              <a:rPr lang="zh-CN" altLang="en-US" dirty="0"/>
            </a:br>
            <a:r>
              <a:rPr lang="en-US" altLang="zh-CN" dirty="0"/>
              <a:t>2. </a:t>
            </a:r>
            <a:r>
              <a:rPr lang="zh-CN" altLang="en-US" dirty="0"/>
              <a:t>执行 </a:t>
            </a:r>
            <a:r>
              <a:rPr lang="en-US" dirty="0"/>
              <a:t>pip </a:t>
            </a:r>
            <a:r>
              <a:rPr lang="zh-CN" altLang="en-US" dirty="0"/>
              <a:t>安装必要的依赖：</a:t>
            </a:r>
            <a:r>
              <a:rPr lang="en-US" dirty="0" err="1"/>
              <a:t>fastapi</a:t>
            </a:r>
            <a:r>
              <a:rPr lang="en-US" dirty="0"/>
              <a:t>, </a:t>
            </a:r>
            <a:r>
              <a:rPr lang="en-US" dirty="0" err="1"/>
              <a:t>uvicorn</a:t>
            </a:r>
            <a:r>
              <a:rPr lang="en-US" dirty="0"/>
              <a:t>, google-</a:t>
            </a:r>
            <a:r>
              <a:rPr lang="en-US" dirty="0" err="1"/>
              <a:t>genai</a:t>
            </a:r>
            <a:r>
              <a:rPr lang="en-US" dirty="0"/>
              <a:t>, </a:t>
            </a:r>
            <a:r>
              <a:rPr lang="en-US" dirty="0" err="1"/>
              <a:t>openai</a:t>
            </a:r>
            <a:r>
              <a:rPr lang="en-US" dirty="0"/>
              <a:t>, </a:t>
            </a:r>
            <a:r>
              <a:rPr lang="en-US" dirty="0" err="1"/>
              <a:t>fastmcp</a:t>
            </a:r>
            <a:r>
              <a:rPr lang="en-US" dirty="0"/>
              <a:t>, </a:t>
            </a:r>
            <a:r>
              <a:rPr lang="en-US" dirty="0" err="1"/>
              <a:t>paddleocr</a:t>
            </a:r>
            <a:r>
              <a:rPr lang="en-US" dirty="0"/>
              <a:t>, </a:t>
            </a:r>
            <a:r>
              <a:rPr lang="en-US" dirty="0" err="1"/>
              <a:t>opencv</a:t>
            </a:r>
            <a:r>
              <a:rPr lang="en-US" dirty="0"/>
              <a:t>-python-headless。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17136" y="1920240"/>
            <a:ext cx="3145536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00016" y="2103120"/>
            <a:ext cx="277977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步骤 </a:t>
            </a:r>
            <a:r>
              <a:rPr lang="en-US" altLang="zh-CN" dirty="0"/>
              <a:t>2</a:t>
            </a:r>
            <a:r>
              <a:rPr lang="zh-CN" altLang="en-US" dirty="0"/>
              <a:t>：注入模型 </a:t>
            </a:r>
            <a:r>
              <a:rPr lang="en-US" dirty="0"/>
              <a:t>API Key</a:t>
            </a:r>
          </a:p>
          <a:p>
            <a:pPr>
              <a:spcAft>
                <a:spcPts val="1000"/>
              </a:spcAft>
              <a:defRPr sz="1200">
                <a:solidFill>
                  <a:srgbClr val="E07A5F"/>
                </a:solidFill>
                <a:latin typeface="Microsoft YaHei"/>
              </a:defRPr>
            </a:pPr>
            <a:r>
              <a:rPr lang="en-US" dirty="0"/>
              <a:t>—— </a:t>
            </a:r>
            <a:r>
              <a:rPr lang="zh-CN" altLang="en-US" dirty="0"/>
              <a:t>配置文件或环境变量加载</a:t>
            </a:r>
          </a:p>
          <a:p>
            <a:pPr>
              <a:defRPr sz="1100">
                <a:solidFill>
                  <a:srgbClr val="333333"/>
                </a:solidFill>
                <a:latin typeface="Microsoft YaHei"/>
              </a:defRPr>
            </a:pPr>
            <a:r>
              <a:rPr lang="en-US" altLang="zh-CN" dirty="0"/>
              <a:t>1. </a:t>
            </a:r>
            <a:r>
              <a:rPr lang="zh-CN" altLang="en-US" dirty="0"/>
              <a:t>复制 </a:t>
            </a:r>
            <a:r>
              <a:rPr lang="en-US" altLang="zh-CN" dirty="0"/>
              <a:t>`.</a:t>
            </a:r>
            <a:r>
              <a:rPr lang="en-US" dirty="0" err="1"/>
              <a:t>env.example</a:t>
            </a:r>
            <a:r>
              <a:rPr lang="en-US" dirty="0"/>
              <a:t>` </a:t>
            </a:r>
            <a:r>
              <a:rPr lang="zh-CN" altLang="en-US" dirty="0"/>
              <a:t>命名为 </a:t>
            </a:r>
            <a:r>
              <a:rPr lang="en-US" altLang="zh-CN" dirty="0"/>
              <a:t>`.</a:t>
            </a:r>
            <a:r>
              <a:rPr lang="en-US" dirty="0"/>
              <a:t>env` </a:t>
            </a:r>
            <a:r>
              <a:rPr lang="zh-CN" altLang="en-US" dirty="0"/>
              <a:t>文件。</a:t>
            </a:r>
            <a:br>
              <a:rPr lang="zh-CN" altLang="en-US" dirty="0"/>
            </a:br>
            <a:r>
              <a:rPr lang="en-US" altLang="zh-CN" dirty="0"/>
              <a:t>2. </a:t>
            </a:r>
            <a:r>
              <a:rPr lang="zh-CN" altLang="en-US" dirty="0"/>
              <a:t>依次填入有效的 </a:t>
            </a:r>
            <a:r>
              <a:rPr lang="en-US" altLang="zh-CN" dirty="0"/>
              <a:t>`</a:t>
            </a:r>
            <a:r>
              <a:rPr lang="en-US" dirty="0"/>
              <a:t>GEMINI_API_KEY` </a:t>
            </a:r>
            <a:r>
              <a:rPr lang="zh-CN" altLang="en-US" dirty="0"/>
              <a:t>与阿里 </a:t>
            </a:r>
            <a:r>
              <a:rPr lang="en-US" dirty="0" err="1"/>
              <a:t>DashScope</a:t>
            </a:r>
            <a:r>
              <a:rPr lang="en-US" dirty="0"/>
              <a:t> </a:t>
            </a:r>
            <a:r>
              <a:rPr lang="zh-CN" altLang="en-US" dirty="0"/>
              <a:t>下的 </a:t>
            </a:r>
            <a:r>
              <a:rPr lang="en-US" altLang="zh-CN" dirty="0"/>
              <a:t>`</a:t>
            </a:r>
            <a:r>
              <a:rPr lang="en-US" dirty="0"/>
              <a:t>DASHSCOPE_API_KEY`（</a:t>
            </a:r>
            <a:r>
              <a:rPr lang="en-US" dirty="0" err="1"/>
              <a:t>DeepSeek</a:t>
            </a:r>
            <a:r>
              <a:rPr lang="zh-CN" altLang="en-US" dirty="0"/>
              <a:t>驱动）。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920240"/>
            <a:ext cx="3145536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02752" y="2103120"/>
            <a:ext cx="277977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步骤 </a:t>
            </a:r>
            <a:r>
              <a:rPr lang="en-US" altLang="zh-CN" dirty="0"/>
              <a:t>3</a:t>
            </a:r>
            <a:r>
              <a:rPr lang="zh-CN" altLang="en-US" dirty="0"/>
              <a:t>：一键启动服务器</a:t>
            </a:r>
          </a:p>
          <a:p>
            <a:pPr>
              <a:spcAft>
                <a:spcPts val="1000"/>
              </a:spcAft>
              <a:defRPr sz="1200">
                <a:solidFill>
                  <a:srgbClr val="E07A5F"/>
                </a:solidFill>
                <a:latin typeface="Microsoft YaHei"/>
              </a:defRPr>
            </a:pPr>
            <a:r>
              <a:rPr lang="en-US" altLang="zh-CN" dirty="0"/>
              <a:t>—— </a:t>
            </a:r>
            <a:r>
              <a:rPr lang="zh-CN" altLang="en-US" dirty="0"/>
              <a:t>子进程自加载与调试</a:t>
            </a:r>
          </a:p>
          <a:p>
            <a:pPr>
              <a:defRPr sz="1100">
                <a:solidFill>
                  <a:srgbClr val="333333"/>
                </a:solidFill>
                <a:latin typeface="Microsoft YaHei"/>
              </a:defRPr>
            </a:pPr>
            <a:r>
              <a:rPr lang="en-US" altLang="zh-CN" dirty="0"/>
              <a:t>1. </a:t>
            </a:r>
            <a:r>
              <a:rPr lang="zh-CN" altLang="en-US" dirty="0"/>
              <a:t>确认 </a:t>
            </a:r>
            <a:r>
              <a:rPr lang="en-US" altLang="zh-CN" dirty="0"/>
              <a:t>`./workspace` </a:t>
            </a:r>
            <a:r>
              <a:rPr lang="zh-CN" altLang="en-US" dirty="0"/>
              <a:t>工作区目录已被自动创建。</a:t>
            </a:r>
            <a:br>
              <a:rPr lang="zh-CN" altLang="en-US" dirty="0"/>
            </a:br>
            <a:r>
              <a:rPr lang="en-US" altLang="zh-CN" dirty="0"/>
              <a:t>2. </a:t>
            </a:r>
            <a:r>
              <a:rPr lang="zh-CN" altLang="en-US" dirty="0"/>
              <a:t>终端执行 </a:t>
            </a:r>
            <a:r>
              <a:rPr lang="en-US" altLang="zh-CN" dirty="0"/>
              <a:t>`python agent.py`</a:t>
            </a:r>
            <a:r>
              <a:rPr lang="zh-CN" altLang="en-US" dirty="0"/>
              <a:t>。网关会自动拉起子进程 </a:t>
            </a:r>
            <a:r>
              <a:rPr lang="en-US" altLang="zh-CN" dirty="0"/>
              <a:t>`server.py`</a:t>
            </a:r>
            <a:r>
              <a:rPr lang="zh-CN" altLang="en-US" dirty="0"/>
              <a:t>，在本地 </a:t>
            </a:r>
            <a:r>
              <a:rPr lang="en-US" altLang="zh-CN" dirty="0"/>
              <a:t>8000 </a:t>
            </a:r>
            <a:r>
              <a:rPr lang="zh-CN" altLang="en-US" dirty="0"/>
              <a:t>端口打开浏览器即用。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预期计划与成员分工</a:t>
            </a:r>
          </a:p>
          <a:p>
            <a:pPr>
              <a:defRPr sz="1400">
                <a:solidFill>
                  <a:srgbClr val="E07A5F"/>
                </a:solidFill>
                <a:latin typeface="Microsoft YaHei"/>
              </a:defRPr>
            </a:pPr>
            <a:r>
              <a:rPr lang="zh-CN" altLang="en-US" dirty="0"/>
              <a:t>敏捷迭代下的阶段里程碑规划与团队精细化职责管理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66109" y="1814948"/>
            <a:ext cx="2313432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648989" y="1997828"/>
            <a:ext cx="1947672" cy="169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3F59"/>
                </a:solidFill>
                <a:latin typeface="Microsoft YaHei"/>
              </a:defRPr>
            </a:pPr>
            <a:r>
              <a:rPr lang="en-US" altLang="zh-CN" dirty="0"/>
              <a:t>[</a:t>
            </a:r>
            <a:r>
              <a:rPr lang="zh-CN" altLang="en-US" dirty="0"/>
              <a:t>胡敏逸</a:t>
            </a:r>
            <a:r>
              <a:rPr lang="en-US" altLang="zh-CN" dirty="0"/>
              <a:t>/ </a:t>
            </a:r>
            <a:r>
              <a:rPr lang="zh-CN" altLang="en-US" dirty="0"/>
              <a:t>组长</a:t>
            </a:r>
            <a:r>
              <a:rPr lang="en-US" altLang="zh-CN" dirty="0"/>
              <a:t>]</a:t>
            </a:r>
          </a:p>
          <a:p>
            <a:pPr>
              <a:defRPr sz="1200">
                <a:solidFill>
                  <a:srgbClr val="333333"/>
                </a:solidFill>
                <a:latin typeface="Microsoft YaHei"/>
              </a:defRPr>
            </a:pPr>
            <a:r>
              <a:rPr lang="en-US" altLang="zh-CN" dirty="0"/>
              <a:t>【</a:t>
            </a:r>
            <a:r>
              <a:rPr lang="zh-CN" altLang="en-US" dirty="0"/>
              <a:t>预期职责</a:t>
            </a:r>
            <a:r>
              <a:rPr lang="en-US" altLang="zh-CN" dirty="0"/>
              <a:t>】</a:t>
            </a:r>
            <a:r>
              <a:rPr lang="zh-CN" altLang="en-US" dirty="0"/>
              <a:t>负责核心服务器网关架构。</a:t>
            </a:r>
            <a:br>
              <a:rPr lang="zh-CN" altLang="en-US" dirty="0"/>
            </a:br>
            <a:r>
              <a:rPr lang="en-US" altLang="zh-CN" dirty="0"/>
              <a:t>【</a:t>
            </a:r>
            <a:r>
              <a:rPr lang="zh-CN" altLang="en-US" dirty="0"/>
              <a:t>交付成果</a:t>
            </a:r>
            <a:r>
              <a:rPr lang="en-US" altLang="zh-CN" dirty="0"/>
              <a:t>】</a:t>
            </a:r>
            <a:r>
              <a:rPr lang="zh-CN" altLang="en-US" dirty="0"/>
              <a:t>编写 </a:t>
            </a:r>
            <a:r>
              <a:rPr lang="en-US" altLang="zh-CN" dirty="0"/>
              <a:t>`agent.py` WebSocket </a:t>
            </a:r>
            <a:r>
              <a:rPr lang="zh-CN" altLang="en-US" dirty="0"/>
              <a:t>管道及双模型接口层，实现路由在运行态的热切换适配。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94537" y="1814948"/>
            <a:ext cx="2313432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877417" y="1814948"/>
            <a:ext cx="1947672" cy="169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3F59"/>
                </a:solidFill>
                <a:latin typeface="Microsoft YaHei"/>
              </a:defRPr>
            </a:pPr>
            <a:r>
              <a:rPr lang="en-US" altLang="zh-CN" dirty="0"/>
              <a:t>[</a:t>
            </a:r>
            <a:r>
              <a:rPr lang="zh-CN" altLang="en-US" dirty="0"/>
              <a:t>叶梓竣</a:t>
            </a:r>
            <a:r>
              <a:rPr lang="en-US" altLang="zh-CN" dirty="0"/>
              <a:t>]</a:t>
            </a:r>
          </a:p>
          <a:p>
            <a:pPr>
              <a:defRPr sz="1200">
                <a:solidFill>
                  <a:srgbClr val="333333"/>
                </a:solidFill>
                <a:latin typeface="Microsoft YaHei"/>
              </a:defRPr>
            </a:pPr>
            <a:r>
              <a:rPr lang="en-US" altLang="zh-CN" dirty="0"/>
              <a:t>【</a:t>
            </a:r>
            <a:r>
              <a:rPr lang="zh-CN" altLang="en-US" dirty="0"/>
              <a:t>预期职责</a:t>
            </a:r>
            <a:r>
              <a:rPr lang="en-US" altLang="zh-CN" dirty="0"/>
              <a:t>】</a:t>
            </a:r>
            <a:r>
              <a:rPr lang="zh-CN" altLang="en-US" dirty="0"/>
              <a:t>主攻本地工具服务及安全控制。</a:t>
            </a:r>
            <a:br>
              <a:rPr lang="zh-CN" altLang="en-US" dirty="0"/>
            </a:br>
            <a:r>
              <a:rPr lang="en-US" altLang="zh-CN" dirty="0"/>
              <a:t>【</a:t>
            </a:r>
            <a:r>
              <a:rPr lang="zh-CN" altLang="en-US" dirty="0"/>
              <a:t>交付成果</a:t>
            </a:r>
            <a:r>
              <a:rPr lang="en-US" altLang="zh-CN" dirty="0"/>
              <a:t>】</a:t>
            </a:r>
            <a:r>
              <a:rPr lang="zh-CN" altLang="en-US" dirty="0"/>
              <a:t>使用 </a:t>
            </a:r>
            <a:r>
              <a:rPr lang="en-US" altLang="zh-CN" dirty="0" err="1"/>
              <a:t>FastMCP</a:t>
            </a:r>
            <a:r>
              <a:rPr lang="zh-CN" altLang="en-US" dirty="0"/>
              <a:t> 搭建 </a:t>
            </a:r>
            <a:r>
              <a:rPr lang="en-US" altLang="zh-CN" dirty="0"/>
              <a:t>`server.py` </a:t>
            </a:r>
            <a:r>
              <a:rPr lang="zh-CN" altLang="en-US" dirty="0"/>
              <a:t>通信模块，成功集成本地 </a:t>
            </a:r>
            <a:r>
              <a:rPr lang="en-US" altLang="zh-CN" dirty="0"/>
              <a:t>OCR </a:t>
            </a:r>
            <a:r>
              <a:rPr lang="zh-CN" altLang="en-US" dirty="0"/>
              <a:t>并开发防越界 </a:t>
            </a:r>
            <a:r>
              <a:rPr lang="en-US" altLang="zh-CN" dirty="0"/>
              <a:t>`</a:t>
            </a:r>
            <a:r>
              <a:rPr lang="en-US" altLang="zh-CN" dirty="0" err="1"/>
              <a:t>safe_path</a:t>
            </a:r>
            <a:r>
              <a:rPr lang="en-US" altLang="zh-CN" dirty="0"/>
              <a:t>` </a:t>
            </a:r>
            <a:r>
              <a:rPr lang="zh-CN" altLang="en-US" dirty="0"/>
              <a:t>拦截器。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实际进度曲线与燃尽图</a:t>
            </a:r>
          </a:p>
          <a:p>
            <a:pPr>
              <a:defRPr sz="1400">
                <a:solidFill>
                  <a:srgbClr val="E07A5F"/>
                </a:solidFill>
                <a:latin typeface="Microsoft YaHei"/>
              </a:defRPr>
            </a:pPr>
            <a:r>
              <a:rPr lang="zh-CN" altLang="en-US" dirty="0"/>
              <a:t>敏捷迭代开发阶段任务下摆与消耗走势分析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4809744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444398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项目进度开发轨迹分析</a:t>
            </a:r>
          </a:p>
          <a:p>
            <a:pPr>
              <a:defRPr sz="1200">
                <a:solidFill>
                  <a:srgbClr val="333333"/>
                </a:solidFill>
                <a:latin typeface="Microsoft YaHei"/>
              </a:defRPr>
            </a:pPr>
            <a:r>
              <a:rPr lang="en-US" altLang="zh-CN" dirty="0"/>
              <a:t>• </a:t>
            </a:r>
            <a:r>
              <a:rPr lang="zh-CN" altLang="en-US" dirty="0"/>
              <a:t>第 </a:t>
            </a:r>
            <a:r>
              <a:rPr lang="en-US" altLang="zh-CN" dirty="0"/>
              <a:t>1-2 </a:t>
            </a:r>
            <a:r>
              <a:rPr lang="zh-CN" altLang="en-US" dirty="0"/>
              <a:t>周（需求与预研）：确立系统核心为 </a:t>
            </a:r>
            <a:r>
              <a:rPr lang="en-US" altLang="zh-CN" dirty="0"/>
              <a:t>MCP</a:t>
            </a:r>
            <a:r>
              <a:rPr lang="zh-CN" altLang="en-US" dirty="0"/>
              <a:t>，打通 </a:t>
            </a:r>
            <a:r>
              <a:rPr lang="en-US" altLang="zh-CN" dirty="0" err="1"/>
              <a:t>Stdio</a:t>
            </a:r>
            <a:r>
              <a:rPr lang="zh-CN" altLang="en-US" dirty="0"/>
              <a:t> 管道底层通讯模型并解决跨语言 </a:t>
            </a:r>
            <a:r>
              <a:rPr lang="en-US" altLang="zh-CN" dirty="0"/>
              <a:t>API </a:t>
            </a:r>
            <a:r>
              <a:rPr lang="zh-CN" altLang="en-US" dirty="0"/>
              <a:t>标准难题。</a:t>
            </a:r>
            <a:br>
              <a:rPr lang="zh-CN" altLang="en-US" dirty="0"/>
            </a:br>
            <a:br>
              <a:rPr lang="zh-CN" altLang="en-US" dirty="0"/>
            </a:br>
            <a:r>
              <a:rPr lang="en-US" altLang="zh-CN" dirty="0"/>
              <a:t>• </a:t>
            </a:r>
            <a:r>
              <a:rPr lang="zh-CN" altLang="en-US" dirty="0"/>
              <a:t>第 </a:t>
            </a:r>
            <a:r>
              <a:rPr lang="en-US" altLang="zh-CN" dirty="0"/>
              <a:t>3-4 </a:t>
            </a:r>
            <a:r>
              <a:rPr lang="zh-CN" altLang="en-US" dirty="0"/>
              <a:t>周（原型构建）：完成基于 </a:t>
            </a:r>
            <a:r>
              <a:rPr lang="en-US" altLang="zh-CN" dirty="0" err="1"/>
              <a:t>FastAPI</a:t>
            </a:r>
            <a:r>
              <a:rPr lang="zh-CN" altLang="en-US" dirty="0"/>
              <a:t> 与 </a:t>
            </a:r>
            <a:r>
              <a:rPr lang="en-US" altLang="zh-CN" dirty="0"/>
              <a:t>WebSocket </a:t>
            </a:r>
            <a:r>
              <a:rPr lang="zh-CN" altLang="en-US" dirty="0"/>
              <a:t>的基础原型，重构并推出动态双模型热切换模式。</a:t>
            </a:r>
            <a:br>
              <a:rPr lang="zh-CN" altLang="en-US" dirty="0"/>
            </a:br>
            <a:br>
              <a:rPr lang="zh-CN" altLang="en-US" dirty="0"/>
            </a:br>
            <a:r>
              <a:rPr lang="en-US" altLang="zh-CN" dirty="0"/>
              <a:t>• </a:t>
            </a:r>
            <a:r>
              <a:rPr lang="zh-CN" altLang="en-US" dirty="0"/>
              <a:t>第 </a:t>
            </a:r>
            <a:r>
              <a:rPr lang="en-US" altLang="zh-CN" dirty="0"/>
              <a:t>5-6 </a:t>
            </a:r>
            <a:r>
              <a:rPr lang="zh-CN" altLang="en-US" dirty="0"/>
              <a:t>周（功能落地与强化）：成功集成 </a:t>
            </a:r>
            <a:r>
              <a:rPr lang="en-US" altLang="zh-CN" dirty="0" err="1"/>
              <a:t>PaddleOCR</a:t>
            </a:r>
            <a:r>
              <a:rPr lang="zh-CN" altLang="en-US" dirty="0"/>
              <a:t>、强化 </a:t>
            </a:r>
            <a:r>
              <a:rPr lang="en-US" altLang="zh-CN" dirty="0"/>
              <a:t>`</a:t>
            </a:r>
            <a:r>
              <a:rPr lang="en-US" altLang="zh-CN" dirty="0" err="1"/>
              <a:t>safe_path</a:t>
            </a:r>
            <a:r>
              <a:rPr lang="en-US" altLang="zh-CN" dirty="0"/>
              <a:t>` </a:t>
            </a:r>
            <a:r>
              <a:rPr lang="zh-CN" altLang="en-US" dirty="0"/>
              <a:t>沙箱逻辑、完成自动化用例测试并顺利封版。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55664" y="1920240"/>
            <a:ext cx="4809744" cy="41148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38544" y="2194560"/>
            <a:ext cx="444398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E07A5F"/>
                </a:solidFill>
                <a:latin typeface="Consolas"/>
              </a:defRPr>
            </a:pPr>
            <a:r>
              <a:rPr lang="en-US" dirty="0"/>
              <a:t>■ Sprint Task Burndown Chart (6-Week)</a:t>
            </a:r>
          </a:p>
          <a:p>
            <a:pPr>
              <a:spcBef>
                <a:spcPts val="500"/>
              </a:spcBef>
              <a:defRPr sz="1100">
                <a:solidFill>
                  <a:srgbClr val="FFFFFF"/>
                </a:solidFill>
                <a:latin typeface="Consolas"/>
              </a:defRPr>
            </a:pPr>
            <a:r>
              <a:rPr lang="en-US" dirty="0"/>
              <a:t>Tasks Remaining</a:t>
            </a:r>
            <a:br>
              <a:rPr lang="en-US" dirty="0"/>
            </a:br>
            <a:r>
              <a:rPr lang="en-US" dirty="0"/>
              <a:t> 80 | * </a:t>
            </a:r>
            <a:br>
              <a:rPr lang="en-US" dirty="0"/>
            </a:br>
            <a:r>
              <a:rPr lang="en-US" dirty="0"/>
              <a:t> 60 |   * *  [W1-W2 Research &amp; Setup] (Planned: 100% completed)</a:t>
            </a:r>
            <a:br>
              <a:rPr lang="en-US" dirty="0"/>
            </a:br>
            <a:r>
              <a:rPr lang="en-US" dirty="0"/>
              <a:t> 40 |       *   [W3-W4 Backend/Frontend API integration]</a:t>
            </a:r>
            <a:br>
              <a:rPr lang="en-US" dirty="0"/>
            </a:br>
            <a:r>
              <a:rPr lang="en-US" dirty="0"/>
              <a:t> 20 |         *  [W5 Sandbox, OCR &amp; </a:t>
            </a:r>
            <a:r>
              <a:rPr lang="en-US" dirty="0" err="1"/>
              <a:t>crawl_syosetu</a:t>
            </a:r>
            <a:r>
              <a:rPr lang="en-US" dirty="0"/>
              <a:t> Chapter]</a:t>
            </a:r>
            <a:br>
              <a:rPr lang="en-US" dirty="0"/>
            </a:br>
            <a:r>
              <a:rPr lang="en-US" dirty="0"/>
              <a:t>  0 |           * [W6 Unit Testing &amp; Robustness Tuning]</a:t>
            </a:r>
            <a:br>
              <a:rPr lang="en-US" dirty="0"/>
            </a:br>
            <a:r>
              <a:rPr lang="en-US" dirty="0"/>
              <a:t>    +-----------------------------------------</a:t>
            </a:r>
            <a:br>
              <a:rPr lang="en-US" dirty="0"/>
            </a:br>
            <a:r>
              <a:rPr lang="en-US" dirty="0"/>
              <a:t>     W1  W2  W3  W4  W5  W6 (Sprint Duration)</a:t>
            </a:r>
            <a:br>
              <a:rPr lang="en-US" dirty="0"/>
            </a:br>
            <a:r>
              <a:rPr lang="en-US" dirty="0"/>
              <a:t>    =========================================</a:t>
            </a:r>
            <a:br>
              <a:rPr lang="en-US" dirty="0"/>
            </a:br>
            <a:r>
              <a:rPr lang="en-US" dirty="0"/>
              <a:t>    - </a:t>
            </a:r>
            <a:r>
              <a:rPr lang="zh-CN" altLang="en-US" dirty="0"/>
              <a:t>实际消亡曲线（*）高度贴合理论消耗线，无严重延期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核心功能一：双模型动态热切换</a:t>
            </a:r>
          </a:p>
          <a:p>
            <a:pPr>
              <a:defRPr sz="1400">
                <a:solidFill>
                  <a:srgbClr val="E07A5F"/>
                </a:solidFill>
                <a:latin typeface="Microsoft YaHei"/>
              </a:defRPr>
            </a:pPr>
            <a:r>
              <a:rPr lang="zh-CN" altLang="en-US" dirty="0"/>
              <a:t>支持云端 </a:t>
            </a:r>
            <a:r>
              <a:rPr lang="en-US" altLang="zh-CN" dirty="0"/>
              <a:t>Gemini 2.0 </a:t>
            </a:r>
            <a:r>
              <a:rPr lang="zh-CN" altLang="en-US" dirty="0"/>
              <a:t>与 </a:t>
            </a:r>
            <a:r>
              <a:rPr lang="en-US" altLang="zh-CN" dirty="0" err="1"/>
              <a:t>DeepSeek</a:t>
            </a:r>
            <a:r>
              <a:rPr lang="en-US" altLang="zh-CN" dirty="0"/>
              <a:t>/</a:t>
            </a:r>
            <a:r>
              <a:rPr lang="en-US" altLang="zh-CN" dirty="0" err="1"/>
              <a:t>Qwen</a:t>
            </a:r>
            <a:r>
              <a:rPr lang="zh-CN" altLang="en-US" dirty="0"/>
              <a:t> 混合接入，支持在极速模式与逻辑重推理之间自由切换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4809744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94560"/>
            <a:ext cx="426110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113F59"/>
                </a:solidFill>
                <a:latin typeface="Microsoft YaHei"/>
              </a:defRPr>
            </a:pPr>
            <a:r>
              <a:rPr lang="en-US" altLang="zh-CN" dirty="0"/>
              <a:t>Gemini 2.0 - </a:t>
            </a:r>
            <a:r>
              <a:rPr lang="zh-CN" altLang="en-US" dirty="0"/>
              <a:t>多模态核心</a:t>
            </a:r>
          </a:p>
          <a:p>
            <a:pPr>
              <a:spcAft>
                <a:spcPts val="1400"/>
              </a:spcAft>
              <a:defRPr sz="1300">
                <a:solidFill>
                  <a:srgbClr val="E07A5F"/>
                </a:solidFill>
                <a:latin typeface="Microsoft YaHei"/>
              </a:defRPr>
            </a:pPr>
            <a:r>
              <a:rPr lang="en-US" altLang="zh-CN" dirty="0"/>
              <a:t>—— </a:t>
            </a:r>
            <a:r>
              <a:rPr lang="zh-CN" altLang="en-US" dirty="0"/>
              <a:t>双协议动态兼容整合</a:t>
            </a:r>
          </a:p>
          <a:p>
            <a:pPr>
              <a:defRPr sz="1200">
                <a:solidFill>
                  <a:srgbClr val="333333"/>
                </a:solidFill>
                <a:latin typeface="Microsoft YaHei"/>
              </a:defRPr>
            </a:pPr>
            <a:r>
              <a:rPr lang="zh-CN" altLang="en-US" dirty="0"/>
              <a:t>系统原生集成 </a:t>
            </a:r>
            <a:r>
              <a:rPr lang="en-US" altLang="zh-CN" dirty="0"/>
              <a:t>gemini-2.0-flash</a:t>
            </a:r>
            <a:r>
              <a:rPr lang="zh-CN" altLang="en-US" dirty="0"/>
              <a:t>，支持极低延迟下的大上下文工具编排与推理。在图形化输入与代码级串行调用场景下提供了流畅支撑，并通过 </a:t>
            </a:r>
            <a:r>
              <a:rPr lang="en-US" altLang="zh-CN" dirty="0"/>
              <a:t>UI </a:t>
            </a:r>
            <a:r>
              <a:rPr lang="zh-CN" altLang="en-US" dirty="0"/>
              <a:t>动态加载 </a:t>
            </a:r>
            <a:r>
              <a:rPr lang="en-US" altLang="zh-CN" dirty="0"/>
              <a:t>System Instruction</a:t>
            </a:r>
            <a:r>
              <a:rPr lang="zh-CN" altLang="en-US" dirty="0"/>
              <a:t>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55664" y="1920240"/>
            <a:ext cx="4809744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42176" y="2194560"/>
            <a:ext cx="426110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113F59"/>
                </a:solidFill>
                <a:latin typeface="Microsoft YaHei"/>
              </a:defRPr>
            </a:pPr>
            <a:r>
              <a:rPr lang="en-US" altLang="zh-CN" dirty="0" err="1"/>
              <a:t>DeepSeek</a:t>
            </a:r>
            <a:r>
              <a:rPr lang="zh-CN" altLang="en-US" dirty="0"/>
              <a:t> </a:t>
            </a:r>
            <a:r>
              <a:rPr lang="en-US" altLang="zh-CN" dirty="0"/>
              <a:t>- </a:t>
            </a:r>
            <a:r>
              <a:rPr lang="zh-CN" altLang="en-US" dirty="0"/>
              <a:t>复杂逻辑推理大脑</a:t>
            </a:r>
          </a:p>
          <a:p>
            <a:pPr>
              <a:spcAft>
                <a:spcPts val="1400"/>
              </a:spcAft>
              <a:defRPr sz="1300">
                <a:solidFill>
                  <a:srgbClr val="E07A5F"/>
                </a:solidFill>
                <a:latin typeface="Microsoft YaHei"/>
              </a:defRPr>
            </a:pPr>
            <a:r>
              <a:rPr lang="en-US" altLang="zh-CN" dirty="0"/>
              <a:t>—— </a:t>
            </a:r>
            <a:r>
              <a:rPr lang="zh-CN" altLang="en-US" dirty="0"/>
              <a:t>兼容标准 </a:t>
            </a:r>
            <a:r>
              <a:rPr lang="en-US" altLang="zh-CN" dirty="0" err="1"/>
              <a:t>OpenAI</a:t>
            </a:r>
            <a:r>
              <a:rPr lang="zh-CN" altLang="en-US" dirty="0"/>
              <a:t> 风格</a:t>
            </a:r>
          </a:p>
          <a:p>
            <a:pPr>
              <a:defRPr sz="1200">
                <a:solidFill>
                  <a:srgbClr val="333333"/>
                </a:solidFill>
                <a:latin typeface="Microsoft YaHei"/>
              </a:defRPr>
            </a:pPr>
            <a:r>
              <a:rPr lang="zh-CN" altLang="en-US" dirty="0"/>
              <a:t>兼容阿里云 </a:t>
            </a:r>
            <a:r>
              <a:rPr lang="en-US" altLang="zh-CN" dirty="0" err="1"/>
              <a:t>DashScope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dirty="0" err="1"/>
              <a:t>qwen</a:t>
            </a:r>
            <a:r>
              <a:rPr lang="en-US" altLang="zh-CN" dirty="0"/>
              <a:t>-plus) </a:t>
            </a:r>
            <a:r>
              <a:rPr lang="zh-CN" altLang="en-US" dirty="0"/>
              <a:t>接口整合。采用标准 </a:t>
            </a:r>
            <a:r>
              <a:rPr lang="en-US" altLang="zh-CN" dirty="0" err="1"/>
              <a:t>OpenAI</a:t>
            </a:r>
            <a:r>
              <a:rPr lang="zh-CN" altLang="en-US" dirty="0"/>
              <a:t> 风格实现会话管理与结构化工具传递。能够应对复杂、包含歧义的用户原始意图拆解，提供极富逻辑与健壮的工具参数装载。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核心功能二：多工协同与自由对话</a:t>
            </a:r>
          </a:p>
          <a:p>
            <a:pPr>
              <a:defRPr sz="1400">
                <a:solidFill>
                  <a:srgbClr val="E07A5F"/>
                </a:solidFill>
                <a:latin typeface="Microsoft YaHei"/>
              </a:defRPr>
            </a:pPr>
            <a:r>
              <a:rPr lang="zh-CN" altLang="en-US" dirty="0"/>
              <a:t>不再受制于单一的关键词模板，彻底释放自然语言处理潜力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4809744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94560"/>
            <a:ext cx="426110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意图识别与决策链路</a:t>
            </a:r>
          </a:p>
          <a:p>
            <a:pPr>
              <a:spcAft>
                <a:spcPts val="1400"/>
              </a:spcAft>
              <a:defRPr sz="1300">
                <a:solidFill>
                  <a:srgbClr val="E07A5F"/>
                </a:solidFill>
                <a:latin typeface="Microsoft YaHei"/>
              </a:defRPr>
            </a:pPr>
            <a:r>
              <a:rPr lang="en-US" altLang="zh-CN" dirty="0"/>
              <a:t>—— </a:t>
            </a:r>
            <a:r>
              <a:rPr lang="zh-CN" altLang="en-US" dirty="0"/>
              <a:t>自然语义的精准捕获</a:t>
            </a:r>
          </a:p>
          <a:p>
            <a:pPr>
              <a:defRPr sz="1200">
                <a:solidFill>
                  <a:srgbClr val="333333"/>
                </a:solidFill>
                <a:latin typeface="Microsoft YaHei"/>
              </a:defRPr>
            </a:pPr>
            <a:r>
              <a:rPr lang="zh-CN" altLang="en-US" dirty="0"/>
              <a:t>不同于传统的静态文本匹配，系统结合大模型在运行态解析不带任何前缀指令的用户输入。根据当前的对话上下文，智能判断用户真实意图，自主提取可能用到的工具调用参数。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55664" y="1920240"/>
            <a:ext cx="4809744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29984" y="2194560"/>
            <a:ext cx="426110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工具链级联调度执行</a:t>
            </a:r>
          </a:p>
          <a:p>
            <a:pPr>
              <a:spcAft>
                <a:spcPts val="1400"/>
              </a:spcAft>
              <a:defRPr sz="1300">
                <a:solidFill>
                  <a:srgbClr val="E07A5F"/>
                </a:solidFill>
                <a:latin typeface="Microsoft YaHei"/>
              </a:defRPr>
            </a:pPr>
            <a:r>
              <a:rPr lang="en-US" altLang="zh-CN" dirty="0"/>
              <a:t>—— </a:t>
            </a:r>
            <a:r>
              <a:rPr lang="zh-CN" altLang="en-US" dirty="0"/>
              <a:t>多步骤任务自动化闭环</a:t>
            </a:r>
          </a:p>
          <a:p>
            <a:pPr>
              <a:defRPr sz="1200">
                <a:solidFill>
                  <a:srgbClr val="333333"/>
                </a:solidFill>
                <a:latin typeface="Microsoft YaHei"/>
              </a:defRPr>
            </a:pPr>
            <a:r>
              <a:rPr lang="zh-CN" altLang="en-US" dirty="0"/>
              <a:t>当用户的意图涵盖读取特定数据、图像解析与最终小说爬取这一长链任务时，系统后台无感知级联执行 </a:t>
            </a:r>
            <a:r>
              <a:rPr lang="en-US" altLang="zh-CN" dirty="0"/>
              <a:t>`</a:t>
            </a:r>
            <a:r>
              <a:rPr lang="en-US" altLang="zh-CN" dirty="0" err="1"/>
              <a:t>ls`</a:t>
            </a:r>
            <a:r>
              <a:rPr lang="zh-CN" altLang="en-US" dirty="0"/>
              <a:t> </a:t>
            </a:r>
            <a:r>
              <a:rPr lang="en-US" altLang="zh-CN" dirty="0"/>
              <a:t>-&gt; `</a:t>
            </a:r>
            <a:r>
              <a:rPr lang="en-US" altLang="zh-CN" dirty="0" err="1"/>
              <a:t>ocr_image</a:t>
            </a:r>
            <a:r>
              <a:rPr lang="en-US" altLang="zh-CN" dirty="0"/>
              <a:t>` -&gt; `</a:t>
            </a:r>
            <a:r>
              <a:rPr lang="en-US" altLang="zh-CN" dirty="0" err="1"/>
              <a:t>workspace_file_io</a:t>
            </a:r>
            <a:r>
              <a:rPr lang="en-US" altLang="zh-CN" dirty="0"/>
              <a:t>` </a:t>
            </a:r>
            <a:r>
              <a:rPr lang="zh-CN" altLang="en-US" dirty="0"/>
              <a:t>并反馈给前端终端，提供一站式无感交互体验。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核心功能三：本地感知与 </a:t>
            </a:r>
            <a:r>
              <a:rPr lang="en-US" altLang="zh-CN" dirty="0" err="1"/>
              <a:t>PaddleOCR</a:t>
            </a:r>
            <a:r>
              <a:rPr lang="zh-CN" altLang="en-US" dirty="0"/>
              <a:t> 图像解析</a:t>
            </a:r>
          </a:p>
          <a:p>
            <a:pPr>
              <a:defRPr sz="1400">
                <a:solidFill>
                  <a:srgbClr val="E07A5F"/>
                </a:solidFill>
                <a:latin typeface="Microsoft YaHei"/>
              </a:defRPr>
            </a:pPr>
            <a:r>
              <a:rPr lang="zh-CN" altLang="en-US" dirty="0"/>
              <a:t>集成百度 </a:t>
            </a:r>
            <a:r>
              <a:rPr lang="en-US" altLang="zh-CN" dirty="0" err="1"/>
              <a:t>PaddleOCR</a:t>
            </a:r>
            <a:r>
              <a:rPr lang="zh-CN" altLang="en-US" dirty="0"/>
              <a:t> 工业级图像文本提取框架，给大模型装上本地的“眼睛”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4809744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444398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13F59"/>
                </a:solidFill>
                <a:latin typeface="Microsoft YaHei"/>
              </a:defRPr>
            </a:pPr>
            <a:r>
              <a:rPr lang="en-US" altLang="zh-CN" dirty="0" err="1"/>
              <a:t>PaddleOCR</a:t>
            </a:r>
            <a:r>
              <a:rPr lang="zh-CN" altLang="en-US" dirty="0"/>
              <a:t> 离线图像流解析</a:t>
            </a:r>
          </a:p>
          <a:p>
            <a:pPr>
              <a:defRPr sz="1300">
                <a:solidFill>
                  <a:srgbClr val="333333"/>
                </a:solidFill>
                <a:latin typeface="Microsoft YaHei"/>
              </a:defRPr>
            </a:pPr>
            <a:r>
              <a:rPr lang="en-US" altLang="zh-CN" dirty="0"/>
              <a:t>• </a:t>
            </a:r>
            <a:r>
              <a:rPr lang="zh-CN" altLang="en-US" dirty="0"/>
              <a:t>工业级识别速度：采用</a:t>
            </a:r>
            <a:r>
              <a:rPr lang="en-US" altLang="zh-CN" dirty="0" err="1"/>
              <a:t>PaddleOCR</a:t>
            </a:r>
            <a:r>
              <a:rPr lang="zh-CN" altLang="en-US" dirty="0"/>
              <a:t>，极速返回图像中的关键信息；支持倾斜矫正（</a:t>
            </a:r>
            <a:r>
              <a:rPr lang="en-US" altLang="zh-CN" dirty="0"/>
              <a:t>CLS</a:t>
            </a:r>
            <a:r>
              <a:rPr lang="zh-CN" altLang="en-US" dirty="0"/>
              <a:t>方向分类器）和精确的多点位边界计算。</a:t>
            </a:r>
            <a:br>
              <a:rPr lang="zh-CN" altLang="en-US" dirty="0"/>
            </a:br>
            <a:br>
              <a:rPr lang="zh-CN" altLang="en-US" dirty="0"/>
            </a:br>
            <a:r>
              <a:rPr lang="en-US" altLang="zh-CN" dirty="0"/>
              <a:t>• </a:t>
            </a:r>
            <a:r>
              <a:rPr lang="zh-CN" altLang="en-US" dirty="0"/>
              <a:t>工作区零中转读取：大模型下达 </a:t>
            </a:r>
            <a:r>
              <a:rPr lang="en-US" altLang="zh-CN" dirty="0"/>
              <a:t>'</a:t>
            </a:r>
            <a:r>
              <a:rPr lang="en-US" altLang="zh-CN" dirty="0" err="1"/>
              <a:t>ocr_image</a:t>
            </a:r>
            <a:r>
              <a:rPr lang="en-US" altLang="zh-CN" dirty="0"/>
              <a:t>' </a:t>
            </a:r>
            <a:r>
              <a:rPr lang="zh-CN" altLang="en-US" dirty="0"/>
              <a:t>指令，工具服务器接收该指令直接在后台执行，读取指定图片并解析，无安全外泄风险。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55664" y="1920240"/>
            <a:ext cx="4809744" cy="41148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38544" y="2194560"/>
            <a:ext cx="444398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E07A5F"/>
                </a:solidFill>
                <a:latin typeface="Consolas"/>
              </a:defRPr>
            </a:pPr>
            <a:r>
              <a:rPr lang="en-US" dirty="0"/>
              <a:t>■ Terminal logs: Action calling </a:t>
            </a:r>
            <a:r>
              <a:rPr lang="en-US" dirty="0" err="1"/>
              <a:t>ocr_image</a:t>
            </a:r>
            <a:endParaRPr lang="en-US" dirty="0"/>
          </a:p>
          <a:p>
            <a:pPr>
              <a:spcBef>
                <a:spcPts val="500"/>
              </a:spcBef>
              <a:defRPr sz="1100">
                <a:solidFill>
                  <a:srgbClr val="FFFFFF"/>
                </a:solidFill>
                <a:latin typeface="Consolas"/>
              </a:defRPr>
            </a:pPr>
            <a:r>
              <a:rPr lang="en-US" dirty="0"/>
              <a:t>&gt; [System Log] Agent checked './workspace/test_cpu_memory.png' - Exists.</a:t>
            </a:r>
            <a:br>
              <a:rPr lang="en-US" dirty="0"/>
            </a:br>
            <a:r>
              <a:rPr lang="en-US" dirty="0"/>
              <a:t>&gt; [Thinking] calling tool: </a:t>
            </a:r>
            <a:r>
              <a:rPr lang="en-US" dirty="0" err="1"/>
              <a:t>ocr_image</a:t>
            </a:r>
            <a:br>
              <a:rPr lang="en-US" dirty="0"/>
            </a:br>
            <a:r>
              <a:rPr lang="en-US" dirty="0"/>
              <a:t>&gt; [Processing] </a:t>
            </a:r>
            <a:r>
              <a:rPr lang="en-US" dirty="0" err="1"/>
              <a:t>PaddleOCR</a:t>
            </a:r>
            <a:r>
              <a:rPr lang="en-US" dirty="0"/>
              <a:t> is executing OCR on cuda:0</a:t>
            </a:r>
            <a:br>
              <a:rPr lang="en-US" dirty="0"/>
            </a:br>
            <a:r>
              <a:rPr lang="en-US" dirty="0"/>
              <a:t>&gt; [Output] Result text: 'CPU</a:t>
            </a:r>
            <a:r>
              <a:rPr lang="zh-CN" altLang="en-US" dirty="0"/>
              <a:t>使用率</a:t>
            </a:r>
            <a:r>
              <a:rPr lang="en-US" altLang="zh-CN" dirty="0"/>
              <a:t>: 59%  </a:t>
            </a:r>
            <a:r>
              <a:rPr lang="zh-CN" altLang="en-US" dirty="0"/>
              <a:t>运行频率</a:t>
            </a:r>
            <a:r>
              <a:rPr lang="en-US" altLang="zh-CN" dirty="0"/>
              <a:t>: 4.38</a:t>
            </a:r>
            <a:r>
              <a:rPr lang="en-US" dirty="0"/>
              <a:t>GHz  </a:t>
            </a:r>
            <a:r>
              <a:rPr lang="zh-CN" altLang="en-US" dirty="0"/>
              <a:t>当前空闲内存</a:t>
            </a:r>
            <a:r>
              <a:rPr lang="en-US" altLang="zh-CN" dirty="0"/>
              <a:t>: 41.5/63.2</a:t>
            </a:r>
            <a:r>
              <a:rPr lang="en-US" dirty="0"/>
              <a:t>GB'</a:t>
            </a:r>
            <a:br>
              <a:rPr lang="en-US" dirty="0"/>
            </a:br>
            <a:r>
              <a:rPr lang="en-US" dirty="0"/>
              <a:t>&gt; [Status] 200 SUCCESS - Payload successfully injected back into Agent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核心功能四：受限沙箱与文件管理</a:t>
            </a:r>
          </a:p>
          <a:p>
            <a:pPr>
              <a:defRPr sz="1400">
                <a:solidFill>
                  <a:srgbClr val="E07A5F"/>
                </a:solidFill>
                <a:latin typeface="Microsoft YaHei"/>
              </a:defRPr>
            </a:pPr>
            <a:r>
              <a:rPr lang="zh-CN" altLang="en-US" dirty="0"/>
              <a:t>在严格隔离的“安全沙箱环境”下，确保大模型无法执行越界或误删、误读取系统资源的危险行为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4809744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444398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安全沙箱边界设计</a:t>
            </a:r>
          </a:p>
          <a:p>
            <a:pPr>
              <a:defRPr sz="1300">
                <a:solidFill>
                  <a:srgbClr val="333333"/>
                </a:solidFill>
                <a:latin typeface="Microsoft YaHei"/>
              </a:defRPr>
            </a:pPr>
            <a:r>
              <a:rPr lang="en-US" altLang="zh-CN" dirty="0"/>
              <a:t>• </a:t>
            </a:r>
            <a:r>
              <a:rPr lang="zh-CN" altLang="en-US" dirty="0"/>
              <a:t>严格锁定的 </a:t>
            </a:r>
            <a:r>
              <a:rPr lang="en-US" altLang="zh-CN" dirty="0"/>
              <a:t>`./workspace` </a:t>
            </a:r>
            <a:r>
              <a:rPr lang="zh-CN" altLang="en-US" dirty="0"/>
              <a:t>根目录：大模型读、写、运行的所有相对路径请求均被迫解析并映射至此。</a:t>
            </a:r>
            <a:br>
              <a:rPr lang="zh-CN" altLang="en-US" dirty="0"/>
            </a:br>
            <a:br>
              <a:rPr lang="zh-CN" altLang="en-US" dirty="0"/>
            </a:br>
            <a:r>
              <a:rPr lang="en-US" altLang="zh-CN" dirty="0"/>
              <a:t>• `</a:t>
            </a:r>
            <a:r>
              <a:rPr lang="en-US" altLang="zh-CN" dirty="0" err="1"/>
              <a:t>safe_path</a:t>
            </a:r>
            <a:r>
              <a:rPr lang="en-US" altLang="zh-CN" dirty="0"/>
              <a:t>` </a:t>
            </a:r>
            <a:r>
              <a:rPr lang="zh-CN" altLang="en-US" dirty="0"/>
              <a:t>防越界策略：系统使用 </a:t>
            </a:r>
            <a:r>
              <a:rPr lang="en-US" altLang="zh-CN" dirty="0"/>
              <a:t>`.resolve()` </a:t>
            </a:r>
            <a:r>
              <a:rPr lang="zh-CN" altLang="en-US" dirty="0"/>
              <a:t>对所有目标绝对路径重组。若绝对路径的前缀非 </a:t>
            </a:r>
            <a:r>
              <a:rPr lang="en-US" altLang="zh-CN" dirty="0"/>
              <a:t>workspace </a:t>
            </a:r>
            <a:r>
              <a:rPr lang="zh-CN" altLang="en-US" dirty="0"/>
              <a:t>的绝对路径，一律拒绝并触发报错逻辑。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55664" y="1920240"/>
            <a:ext cx="4809744" cy="4114800"/>
          </a:xfrm>
          <a:prstGeom prst="roundRect">
            <a:avLst/>
          </a:prstGeom>
          <a:solidFill>
            <a:srgbClr val="1E1E1E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38544" y="2194560"/>
            <a:ext cx="444398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E07A5F"/>
                </a:solidFill>
                <a:latin typeface="Consolas"/>
              </a:defRPr>
            </a:pPr>
            <a:r>
              <a:rPr lang="en-US" dirty="0"/>
              <a:t>■ Source Code: Path evaluation utility</a:t>
            </a:r>
          </a:p>
          <a:p>
            <a:pPr>
              <a:spcBef>
                <a:spcPts val="500"/>
              </a:spcBef>
              <a:defRPr sz="1100">
                <a:solidFill>
                  <a:srgbClr val="FFFFFF"/>
                </a:solidFill>
                <a:latin typeface="Consolas"/>
              </a:defRPr>
            </a:pPr>
            <a:r>
              <a:rPr lang="en-US" dirty="0"/>
              <a:t>def </a:t>
            </a:r>
            <a:r>
              <a:rPr lang="en-US" dirty="0" err="1"/>
              <a:t>safe_path</a:t>
            </a:r>
            <a:r>
              <a:rPr lang="en-US" dirty="0"/>
              <a:t>(path) -&gt; Path:</a:t>
            </a:r>
            <a:br>
              <a:rPr lang="en-US" dirty="0"/>
            </a:br>
            <a:r>
              <a:rPr lang="en-US" dirty="0"/>
              <a:t>    # </a:t>
            </a:r>
            <a:r>
              <a:rPr lang="zh-CN" altLang="en-US" dirty="0"/>
              <a:t>强制将相对路径解析为绝对绝对路径</a:t>
            </a:r>
            <a:br>
              <a:rPr lang="zh-CN" altLang="en-US" dirty="0"/>
            </a:br>
            <a:r>
              <a:rPr lang="zh-CN" altLang="en-US" dirty="0"/>
              <a:t>    </a:t>
            </a:r>
            <a:r>
              <a:rPr lang="en-US" dirty="0" err="1"/>
              <a:t>safepath</a:t>
            </a:r>
            <a:r>
              <a:rPr lang="en-US" dirty="0"/>
              <a:t> = (workspace / path).resolve()</a:t>
            </a:r>
            <a:br>
              <a:rPr lang="en-US" dirty="0"/>
            </a:br>
            <a:r>
              <a:rPr lang="en-US" dirty="0"/>
              <a:t>    # </a:t>
            </a:r>
            <a:r>
              <a:rPr lang="zh-CN" altLang="en-US" dirty="0"/>
              <a:t>安全校验：防止通过 </a:t>
            </a:r>
            <a:r>
              <a:rPr lang="en-US" altLang="zh-CN" dirty="0"/>
              <a:t>../ </a:t>
            </a:r>
            <a:r>
              <a:rPr lang="zh-CN" altLang="en-US" dirty="0"/>
              <a:t>越权读取父目录</a:t>
            </a:r>
            <a:br>
              <a:rPr lang="zh-CN" altLang="en-US" dirty="0"/>
            </a:br>
            <a:r>
              <a:rPr lang="zh-CN" altLang="en-US" dirty="0"/>
              <a:t>    </a:t>
            </a:r>
            <a:r>
              <a:rPr lang="en-US" dirty="0"/>
              <a:t>if not str(</a:t>
            </a:r>
            <a:r>
              <a:rPr lang="en-US" dirty="0" err="1"/>
              <a:t>safepath</a:t>
            </a:r>
            <a:r>
              <a:rPr lang="en-US" dirty="0"/>
              <a:t>).</a:t>
            </a:r>
            <a:r>
              <a:rPr lang="en-US" dirty="0" err="1"/>
              <a:t>startswith</a:t>
            </a:r>
            <a:r>
              <a:rPr lang="en-US" dirty="0"/>
              <a:t>(str(workspace)):</a:t>
            </a:r>
            <a:br>
              <a:rPr lang="en-US" dirty="0"/>
            </a:br>
            <a:r>
              <a:rPr lang="en-US" dirty="0"/>
              <a:t>        raise </a:t>
            </a:r>
            <a:r>
              <a:rPr lang="en-US" dirty="0" err="1"/>
              <a:t>ValueError</a:t>
            </a:r>
            <a:r>
              <a:rPr lang="en-US" dirty="0"/>
              <a:t>("ACCESS NO ALLOWED")</a:t>
            </a:r>
            <a:br>
              <a:rPr lang="en-US" dirty="0"/>
            </a:br>
            <a:r>
              <a:rPr lang="en-US" dirty="0"/>
              <a:t>    return </a:t>
            </a:r>
            <a:r>
              <a:rPr lang="en-US" dirty="0" err="1"/>
              <a:t>safepath</a:t>
            </a:r>
            <a:br>
              <a:rPr lang="en-US" dirty="0"/>
            </a:br>
            <a:br>
              <a:rPr lang="en-US" dirty="0"/>
            </a:br>
            <a:r>
              <a:rPr lang="en-US" dirty="0"/>
              <a:t>##### </a:t>
            </a:r>
            <a:r>
              <a:rPr lang="zh-CN" altLang="en-US" dirty="0"/>
              <a:t>成功杜绝了系统级目录遍历的安全隐患 </a:t>
            </a:r>
            <a:r>
              <a:rPr lang="en-US" altLang="zh-CN" dirty="0"/>
              <a:t>#####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测试工作安排与工具运用</a:t>
            </a:r>
          </a:p>
          <a:p>
            <a:pPr>
              <a:defRPr sz="1400">
                <a:solidFill>
                  <a:srgbClr val="E07A5F"/>
                </a:solidFill>
                <a:latin typeface="Microsoft YaHei"/>
              </a:defRPr>
            </a:pPr>
            <a:r>
              <a:rPr lang="zh-CN" altLang="en-US" dirty="0"/>
              <a:t>基于单元测试与模糊输入注入攻击，全面验证模型交互安全性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3145536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277977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自动化单元与集成测试</a:t>
            </a:r>
          </a:p>
          <a:p>
            <a:pPr>
              <a:spcAft>
                <a:spcPts val="1000"/>
              </a:spcAft>
              <a:defRPr sz="1200">
                <a:solidFill>
                  <a:srgbClr val="E07A5F"/>
                </a:solidFill>
                <a:latin typeface="Microsoft YaHei"/>
              </a:defRPr>
            </a:pPr>
            <a:r>
              <a:rPr lang="en-US" altLang="zh-CN" dirty="0"/>
              <a:t>—— </a:t>
            </a:r>
            <a:r>
              <a:rPr lang="en-US" altLang="zh-CN" dirty="0" err="1"/>
              <a:t>PyTest</a:t>
            </a:r>
            <a:r>
              <a:rPr lang="zh-CN" altLang="en-US" dirty="0"/>
              <a:t> 框架精准运行</a:t>
            </a:r>
          </a:p>
          <a:p>
            <a:pPr>
              <a:defRPr sz="1100">
                <a:solidFill>
                  <a:srgbClr val="333333"/>
                </a:solidFill>
                <a:latin typeface="Microsoft YaHei"/>
              </a:defRPr>
            </a:pPr>
            <a:r>
              <a:rPr lang="en-US" altLang="zh-CN" dirty="0"/>
              <a:t>1. </a:t>
            </a:r>
            <a:r>
              <a:rPr lang="zh-CN" altLang="en-US" dirty="0"/>
              <a:t>引入标准 </a:t>
            </a:r>
            <a:r>
              <a:rPr lang="en-US" altLang="zh-CN" dirty="0" err="1"/>
              <a:t>PyTest</a:t>
            </a:r>
            <a:r>
              <a:rPr lang="zh-CN" altLang="en-US" dirty="0"/>
              <a:t> 测试工具，对 </a:t>
            </a:r>
            <a:r>
              <a:rPr lang="en-US" altLang="zh-CN" dirty="0"/>
              <a:t>`</a:t>
            </a:r>
            <a:r>
              <a:rPr lang="en-US" altLang="zh-CN" dirty="0" err="1"/>
              <a:t>safe_path</a:t>
            </a:r>
            <a:r>
              <a:rPr lang="en-US" altLang="zh-CN" dirty="0"/>
              <a:t>` </a:t>
            </a:r>
            <a:r>
              <a:rPr lang="zh-CN" altLang="en-US" dirty="0"/>
              <a:t>路径解析等公用工具模块实施自动化覆盖。</a:t>
            </a:r>
            <a:br>
              <a:rPr lang="zh-CN" altLang="en-US" dirty="0"/>
            </a:br>
            <a:r>
              <a:rPr lang="en-US" altLang="zh-CN" dirty="0"/>
              <a:t>2. </a:t>
            </a:r>
            <a:r>
              <a:rPr lang="zh-CN" altLang="en-US" dirty="0"/>
              <a:t>对多层相对路径绕过（如 </a:t>
            </a:r>
            <a:r>
              <a:rPr lang="en-US" altLang="zh-CN" dirty="0"/>
              <a:t>`../../</a:t>
            </a:r>
            <a:r>
              <a:rPr lang="en-US" altLang="zh-CN" dirty="0" err="1"/>
              <a:t>etc</a:t>
            </a:r>
            <a:r>
              <a:rPr lang="en-US" altLang="zh-CN" dirty="0"/>
              <a:t>/passwd`</a:t>
            </a:r>
            <a:r>
              <a:rPr lang="zh-CN" altLang="en-US" dirty="0"/>
              <a:t>）编写专门用例，确保底层始终精准拦截。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17136" y="1920240"/>
            <a:ext cx="3145536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00016" y="2103120"/>
            <a:ext cx="277977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安全与注入边界测试</a:t>
            </a:r>
          </a:p>
          <a:p>
            <a:pPr>
              <a:spcAft>
                <a:spcPts val="1000"/>
              </a:spcAft>
              <a:defRPr sz="1200">
                <a:solidFill>
                  <a:srgbClr val="E07A5F"/>
                </a:solidFill>
                <a:latin typeface="Microsoft YaHei"/>
              </a:defRPr>
            </a:pPr>
            <a:r>
              <a:rPr lang="en-US" altLang="zh-CN" dirty="0"/>
              <a:t>—— </a:t>
            </a:r>
            <a:r>
              <a:rPr lang="zh-CN" altLang="en-US" dirty="0"/>
              <a:t>模拟黑客恶意路径注入</a:t>
            </a:r>
          </a:p>
          <a:p>
            <a:pPr>
              <a:defRPr sz="1100">
                <a:solidFill>
                  <a:srgbClr val="333333"/>
                </a:solidFill>
                <a:latin typeface="Microsoft YaHei"/>
              </a:defRPr>
            </a:pPr>
            <a:r>
              <a:rPr lang="en-US" altLang="zh-CN" dirty="0"/>
              <a:t>1. </a:t>
            </a:r>
            <a:r>
              <a:rPr lang="zh-CN" altLang="en-US" dirty="0"/>
              <a:t>测试组手工构造非标准的、恶意的相对路径输入，注入到大模型的文件读写工具调用中。</a:t>
            </a:r>
            <a:br>
              <a:rPr lang="zh-CN" altLang="en-US" dirty="0"/>
            </a:br>
            <a:r>
              <a:rPr lang="en-US" altLang="zh-CN" dirty="0"/>
              <a:t>2. </a:t>
            </a:r>
            <a:r>
              <a:rPr lang="zh-CN" altLang="en-US" dirty="0"/>
              <a:t>对图片解析格式进行极端注入（如损坏图片），验证 </a:t>
            </a:r>
            <a:r>
              <a:rPr lang="en-US" altLang="zh-CN" dirty="0" err="1"/>
              <a:t>PaddleOCR</a:t>
            </a:r>
            <a:r>
              <a:rPr lang="zh-CN" altLang="en-US" dirty="0"/>
              <a:t> 以及异常拦截代码的稳健度。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920240"/>
            <a:ext cx="3145536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02752" y="2103120"/>
            <a:ext cx="277977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3F59"/>
                </a:solidFill>
                <a:latin typeface="Microsoft YaHei"/>
              </a:defRPr>
            </a:pPr>
            <a:r>
              <a:rPr lang="en-US" altLang="zh-CN" dirty="0"/>
              <a:t>WebSocket </a:t>
            </a:r>
            <a:r>
              <a:rPr lang="zh-CN" altLang="en-US" dirty="0"/>
              <a:t>负载与仿真测试</a:t>
            </a:r>
          </a:p>
          <a:p>
            <a:pPr>
              <a:spcAft>
                <a:spcPts val="1000"/>
              </a:spcAft>
              <a:defRPr sz="1200">
                <a:solidFill>
                  <a:srgbClr val="E07A5F"/>
                </a:solidFill>
                <a:latin typeface="Microsoft YaHei"/>
              </a:defRPr>
            </a:pPr>
            <a:r>
              <a:rPr lang="en-US" altLang="zh-CN" dirty="0"/>
              <a:t>—— </a:t>
            </a:r>
            <a:r>
              <a:rPr lang="zh-CN" altLang="en-US" dirty="0"/>
              <a:t>长连接压力与延迟调试</a:t>
            </a:r>
          </a:p>
          <a:p>
            <a:pPr>
              <a:defRPr sz="1100">
                <a:solidFill>
                  <a:srgbClr val="333333"/>
                </a:solidFill>
                <a:latin typeface="Microsoft YaHei"/>
              </a:defRPr>
            </a:pPr>
            <a:r>
              <a:rPr lang="en-US" altLang="zh-CN" dirty="0"/>
              <a:t>1. </a:t>
            </a:r>
            <a:r>
              <a:rPr lang="zh-CN" altLang="en-US" dirty="0"/>
              <a:t>采用 </a:t>
            </a:r>
            <a:r>
              <a:rPr lang="en-US" altLang="zh-CN" dirty="0"/>
              <a:t>WebSocket </a:t>
            </a:r>
            <a:r>
              <a:rPr lang="zh-CN" altLang="en-US" dirty="0"/>
              <a:t>高并发仿真脚本测试服务器在多用户长连接下的响应耗时。</a:t>
            </a:r>
            <a:br>
              <a:rPr lang="zh-CN" altLang="en-US" dirty="0"/>
            </a:br>
            <a:r>
              <a:rPr lang="en-US" altLang="zh-CN" dirty="0"/>
              <a:t>2. </a:t>
            </a:r>
            <a:r>
              <a:rPr lang="zh-CN" altLang="en-US" dirty="0"/>
              <a:t>模拟突发网络中断和重连过程，检测动态会话内 </a:t>
            </a:r>
            <a:r>
              <a:rPr lang="en-US" altLang="zh-CN" dirty="0"/>
              <a:t>history </a:t>
            </a:r>
            <a:r>
              <a:rPr lang="zh-CN" altLang="en-US" dirty="0"/>
              <a:t>上下文在异常退出时的稳定性表现。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接口与安全测试评述</a:t>
            </a:r>
          </a:p>
          <a:p>
            <a:pPr>
              <a:defRPr sz="1400">
                <a:solidFill>
                  <a:srgbClr val="E07A5F"/>
                </a:solidFill>
                <a:latin typeface="Microsoft YaHei"/>
              </a:defRPr>
            </a:pPr>
            <a:r>
              <a:rPr lang="zh-CN" altLang="en-US" dirty="0"/>
              <a:t>客观评价系统当前安全拦截水平与并发服务能力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3145536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277977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路径防线安全评述</a:t>
            </a:r>
          </a:p>
          <a:p>
            <a:pPr>
              <a:spcAft>
                <a:spcPts val="1000"/>
              </a:spcAft>
              <a:defRPr sz="1200">
                <a:solidFill>
                  <a:srgbClr val="E07A5F"/>
                </a:solidFill>
                <a:latin typeface="Microsoft YaHei"/>
              </a:defRPr>
            </a:pPr>
            <a:r>
              <a:rPr lang="en-US" altLang="zh-CN" dirty="0"/>
              <a:t>—— </a:t>
            </a:r>
            <a:r>
              <a:rPr lang="zh-CN" altLang="en-US" dirty="0"/>
              <a:t>拦截率达 </a:t>
            </a:r>
            <a:r>
              <a:rPr lang="en-US" altLang="zh-CN" dirty="0"/>
              <a:t>100% </a:t>
            </a:r>
            <a:r>
              <a:rPr lang="zh-CN" altLang="en-US" dirty="0"/>
              <a:t>拒绝越界</a:t>
            </a:r>
          </a:p>
          <a:p>
            <a:pPr>
              <a:defRPr sz="1100">
                <a:solidFill>
                  <a:srgbClr val="333333"/>
                </a:solidFill>
                <a:latin typeface="Microsoft YaHei"/>
              </a:defRPr>
            </a:pPr>
            <a:r>
              <a:rPr lang="zh-CN" altLang="en-US" dirty="0"/>
              <a:t>经过 </a:t>
            </a:r>
            <a:r>
              <a:rPr lang="en-US" altLang="zh-CN" dirty="0"/>
              <a:t>20 </a:t>
            </a:r>
            <a:r>
              <a:rPr lang="zh-CN" altLang="en-US" dirty="0"/>
              <a:t>余组恶意相对路径遍历测试用例注入，</a:t>
            </a:r>
            <a:r>
              <a:rPr lang="en-US" altLang="zh-CN" dirty="0"/>
              <a:t>`</a:t>
            </a:r>
            <a:r>
              <a:rPr lang="en-US" altLang="zh-CN" dirty="0" err="1"/>
              <a:t>safe_path</a:t>
            </a:r>
            <a:r>
              <a:rPr lang="en-US" altLang="zh-CN" dirty="0"/>
              <a:t>` </a:t>
            </a:r>
            <a:r>
              <a:rPr lang="zh-CN" altLang="en-US" dirty="0"/>
              <a:t>实现了零漏报安全拦截。</a:t>
            </a:r>
            <a:r>
              <a:rPr lang="en-US" altLang="zh-CN" dirty="0"/>
              <a:t>Agent</a:t>
            </a:r>
            <a:r>
              <a:rPr lang="zh-CN" altLang="en-US" dirty="0"/>
              <a:t> 在试图运行或读写工作区以外的数据时，均被阻断并传回“</a:t>
            </a:r>
            <a:r>
              <a:rPr lang="en-US" altLang="zh-CN" dirty="0"/>
              <a:t>NO”</a:t>
            </a:r>
            <a:r>
              <a:rPr lang="zh-CN" altLang="en-US" dirty="0"/>
              <a:t>的安全报错信息。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17136" y="1920240"/>
            <a:ext cx="3145536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00016" y="2103120"/>
            <a:ext cx="277977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多模型热切换平滑度评述</a:t>
            </a:r>
          </a:p>
          <a:p>
            <a:pPr>
              <a:spcAft>
                <a:spcPts val="1000"/>
              </a:spcAft>
              <a:defRPr sz="1200">
                <a:solidFill>
                  <a:srgbClr val="E07A5F"/>
                </a:solidFill>
                <a:latin typeface="Microsoft YaHei"/>
              </a:defRPr>
            </a:pPr>
            <a:r>
              <a:rPr lang="en-US" altLang="zh-CN" dirty="0"/>
              <a:t>—— </a:t>
            </a:r>
            <a:r>
              <a:rPr lang="zh-CN" altLang="en-US" dirty="0"/>
              <a:t>零延迟无缝驱动接管</a:t>
            </a:r>
          </a:p>
          <a:p>
            <a:pPr>
              <a:defRPr sz="1100">
                <a:solidFill>
                  <a:srgbClr val="333333"/>
                </a:solidFill>
                <a:latin typeface="Microsoft YaHei"/>
              </a:defRPr>
            </a:pPr>
            <a:r>
              <a:rPr lang="en-US" altLang="zh-CN" dirty="0"/>
              <a:t>WebSocket </a:t>
            </a:r>
            <a:r>
              <a:rPr lang="zh-CN" altLang="en-US" dirty="0"/>
              <a:t>能够瞬发接收“</a:t>
            </a:r>
            <a:r>
              <a:rPr lang="en-US" altLang="zh-CN" dirty="0" err="1"/>
              <a:t>init</a:t>
            </a:r>
            <a:r>
              <a:rPr lang="en-US" altLang="zh-CN" dirty="0"/>
              <a:t>”</a:t>
            </a:r>
            <a:r>
              <a:rPr lang="zh-CN" altLang="en-US" dirty="0"/>
              <a:t>事件并自重组 </a:t>
            </a:r>
            <a:r>
              <a:rPr lang="en-US" altLang="zh-CN" dirty="0"/>
              <a:t>Payload</a:t>
            </a:r>
            <a:r>
              <a:rPr lang="zh-CN" altLang="en-US" dirty="0"/>
              <a:t>。在 </a:t>
            </a:r>
            <a:r>
              <a:rPr lang="en-US" altLang="zh-CN" dirty="0"/>
              <a:t>Gemini </a:t>
            </a:r>
            <a:r>
              <a:rPr lang="zh-CN" altLang="en-US" dirty="0"/>
              <a:t>和 </a:t>
            </a:r>
            <a:r>
              <a:rPr lang="en-US" altLang="zh-CN" dirty="0" err="1"/>
              <a:t>DeepSeek</a:t>
            </a:r>
            <a:r>
              <a:rPr lang="zh-CN" altLang="en-US" dirty="0"/>
              <a:t> 来回热切换超过 </a:t>
            </a:r>
            <a:r>
              <a:rPr lang="en-US" altLang="zh-CN" dirty="0"/>
              <a:t>50 </a:t>
            </a:r>
            <a:r>
              <a:rPr lang="zh-CN" altLang="en-US" dirty="0"/>
              <a:t>次的循环压力测试下，会话上下游数据无任何丢失、解析无任何崩溃。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920240"/>
            <a:ext cx="3145536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02752" y="2103120"/>
            <a:ext cx="277977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性能瓶颈与不足评述</a:t>
            </a:r>
          </a:p>
          <a:p>
            <a:pPr>
              <a:spcAft>
                <a:spcPts val="1000"/>
              </a:spcAft>
              <a:defRPr sz="1200">
                <a:solidFill>
                  <a:srgbClr val="E07A5F"/>
                </a:solidFill>
                <a:latin typeface="Microsoft YaHei"/>
              </a:defRPr>
            </a:pPr>
            <a:r>
              <a:rPr lang="en-US" altLang="zh-CN" dirty="0"/>
              <a:t>—— </a:t>
            </a:r>
            <a:r>
              <a:rPr lang="zh-CN" altLang="en-US" dirty="0"/>
              <a:t>重算力及单点进程依赖限制</a:t>
            </a:r>
          </a:p>
          <a:p>
            <a:pPr>
              <a:defRPr sz="1100">
                <a:solidFill>
                  <a:srgbClr val="333333"/>
                </a:solidFill>
                <a:latin typeface="Microsoft YaHei"/>
              </a:defRPr>
            </a:pPr>
            <a:r>
              <a:rPr lang="zh-CN" altLang="en-US" dirty="0"/>
              <a:t>由于 </a:t>
            </a:r>
            <a:r>
              <a:rPr lang="en-US" altLang="zh-CN" dirty="0" err="1"/>
              <a:t>PaddleOCR</a:t>
            </a:r>
            <a:r>
              <a:rPr lang="zh-CN" altLang="en-US" dirty="0"/>
              <a:t> 在无 </a:t>
            </a:r>
            <a:r>
              <a:rPr lang="en-US" altLang="zh-CN" dirty="0"/>
              <a:t>GPU </a:t>
            </a:r>
            <a:r>
              <a:rPr lang="zh-CN" altLang="en-US" dirty="0"/>
              <a:t>的本地机器部署时加载权重耗时较长，首次图片 </a:t>
            </a:r>
            <a:r>
              <a:rPr lang="en-US" altLang="zh-CN" dirty="0"/>
              <a:t>OCR </a:t>
            </a:r>
            <a:r>
              <a:rPr lang="zh-CN" altLang="en-US" dirty="0"/>
              <a:t>响应存在 </a:t>
            </a:r>
            <a:r>
              <a:rPr lang="en-US" altLang="zh-CN" dirty="0"/>
              <a:t>2-3s </a:t>
            </a:r>
            <a:r>
              <a:rPr lang="zh-CN" altLang="en-US" dirty="0"/>
              <a:t>延迟；且 </a:t>
            </a:r>
            <a:r>
              <a:rPr lang="en-US" altLang="zh-CN" dirty="0"/>
              <a:t>`</a:t>
            </a:r>
            <a:r>
              <a:rPr lang="en-US" altLang="zh-CN" dirty="0" err="1"/>
              <a:t>workspace_shell</a:t>
            </a:r>
            <a:r>
              <a:rPr lang="en-US" altLang="zh-CN" dirty="0"/>
              <a:t>` </a:t>
            </a:r>
            <a:r>
              <a:rPr lang="zh-CN" altLang="en-US" dirty="0"/>
              <a:t>工具的安全防御仍属于应用级，隔离级别有待继续提升。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遇到的关键问题与解决方案</a:t>
            </a:r>
          </a:p>
          <a:p>
            <a:pPr>
              <a:defRPr sz="1400">
                <a:solidFill>
                  <a:srgbClr val="E07A5F"/>
                </a:solidFill>
                <a:latin typeface="Microsoft YaHei"/>
              </a:defRPr>
            </a:pPr>
            <a:r>
              <a:rPr lang="zh-CN" altLang="en-US" dirty="0"/>
              <a:t>直面研发期两大死锁难题，依靠协程优化与路径校验成功解开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4809744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194560"/>
            <a:ext cx="426110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问题一：</a:t>
            </a:r>
            <a:r>
              <a:rPr lang="en-US" altLang="zh-CN" dirty="0"/>
              <a:t>API</a:t>
            </a:r>
            <a:r>
              <a:rPr lang="zh-CN" altLang="en-US" dirty="0"/>
              <a:t> 超频调用导致熔断死锁</a:t>
            </a:r>
          </a:p>
          <a:p>
            <a:pPr>
              <a:spcAft>
                <a:spcPts val="1400"/>
              </a:spcAft>
              <a:defRPr sz="1300">
                <a:solidFill>
                  <a:srgbClr val="E07A5F"/>
                </a:solidFill>
                <a:latin typeface="Microsoft YaHei"/>
              </a:defRPr>
            </a:pPr>
            <a:r>
              <a:rPr lang="en-US" altLang="zh-CN" dirty="0"/>
              <a:t>—— 【</a:t>
            </a:r>
            <a:r>
              <a:rPr lang="zh-CN" altLang="en-US" dirty="0"/>
              <a:t>解决思路</a:t>
            </a:r>
            <a:r>
              <a:rPr lang="en-US" altLang="zh-CN" dirty="0"/>
              <a:t>】</a:t>
            </a:r>
            <a:r>
              <a:rPr lang="zh-CN" altLang="en-US" dirty="0"/>
              <a:t>在运行态限速并提供平滑降级</a:t>
            </a:r>
          </a:p>
          <a:p>
            <a:pPr>
              <a:defRPr sz="1200">
                <a:solidFill>
                  <a:srgbClr val="333333"/>
                </a:solidFill>
                <a:latin typeface="Microsoft YaHei"/>
              </a:defRPr>
            </a:pPr>
            <a:r>
              <a:rPr lang="zh-CN" altLang="en-US" dirty="0"/>
              <a:t>在进行密集的多工具级联调度测试（如连续执行 </a:t>
            </a:r>
            <a:r>
              <a:rPr lang="en-US" altLang="zh-CN" dirty="0"/>
              <a:t>ls -&gt; read -&gt; OCR</a:t>
            </a:r>
            <a:r>
              <a:rPr lang="zh-CN" altLang="en-US" dirty="0"/>
              <a:t>）时，云端 </a:t>
            </a:r>
            <a:r>
              <a:rPr lang="en-US" altLang="zh-CN" dirty="0"/>
              <a:t>Gemini </a:t>
            </a:r>
            <a:r>
              <a:rPr lang="zh-CN" altLang="en-US" dirty="0"/>
              <a:t>的 </a:t>
            </a:r>
            <a:r>
              <a:rPr lang="en-US" altLang="zh-CN" dirty="0"/>
              <a:t>API </a:t>
            </a:r>
            <a:r>
              <a:rPr lang="zh-CN" altLang="en-US" dirty="0"/>
              <a:t>极其频繁地抛出 </a:t>
            </a:r>
            <a:r>
              <a:rPr lang="en-US" altLang="zh-CN" dirty="0"/>
              <a:t>429 </a:t>
            </a:r>
            <a:r>
              <a:rPr lang="en-US" altLang="zh-CN" dirty="0" err="1"/>
              <a:t>RateLimit</a:t>
            </a:r>
            <a:r>
              <a:rPr lang="zh-CN" altLang="en-US" dirty="0"/>
              <a:t> 错误，导致 </a:t>
            </a:r>
            <a:r>
              <a:rPr lang="en-US" altLang="zh-CN" dirty="0"/>
              <a:t>WebSocket </a:t>
            </a:r>
            <a:r>
              <a:rPr lang="zh-CN" altLang="en-US" dirty="0"/>
              <a:t>通信中断。</a:t>
            </a:r>
            <a:br>
              <a:rPr lang="zh-CN" altLang="en-US" dirty="0"/>
            </a:br>
            <a:br>
              <a:rPr lang="zh-CN" altLang="en-US" dirty="0"/>
            </a:br>
            <a:r>
              <a:rPr lang="en-US" altLang="zh-CN" dirty="0"/>
              <a:t>【</a:t>
            </a:r>
            <a:r>
              <a:rPr lang="zh-CN" altLang="en-US" dirty="0"/>
              <a:t>解决方案</a:t>
            </a:r>
            <a:r>
              <a:rPr lang="en-US" altLang="zh-CN" dirty="0"/>
              <a:t>】</a:t>
            </a:r>
            <a:r>
              <a:rPr lang="zh-CN" altLang="en-US" dirty="0"/>
              <a:t>在后端大模型的 </a:t>
            </a:r>
            <a:r>
              <a:rPr lang="en-US" altLang="zh-CN" dirty="0" err="1"/>
              <a:t>generate_content</a:t>
            </a:r>
            <a:r>
              <a:rPr lang="zh-CN" altLang="en-US" dirty="0"/>
              <a:t> 推理主循环中，强行加入了 </a:t>
            </a:r>
            <a:r>
              <a:rPr lang="en-US" altLang="zh-CN" dirty="0"/>
              <a:t>`await </a:t>
            </a:r>
            <a:r>
              <a:rPr lang="en-US" altLang="zh-CN" dirty="0" err="1"/>
              <a:t>asyncio.sleep</a:t>
            </a:r>
            <a:r>
              <a:rPr lang="en-US" altLang="zh-CN" dirty="0"/>
              <a:t>(1)` </a:t>
            </a:r>
            <a:r>
              <a:rPr lang="zh-CN" altLang="en-US" dirty="0"/>
              <a:t>限速节流控制，同时增加了 </a:t>
            </a:r>
            <a:r>
              <a:rPr lang="en-US" altLang="zh-CN" dirty="0"/>
              <a:t>try-catch </a:t>
            </a:r>
            <a:r>
              <a:rPr lang="zh-CN" altLang="en-US" dirty="0"/>
              <a:t>拦截结构，保证即使遇到限频也会返回温和提示，而不是断开 </a:t>
            </a:r>
            <a:r>
              <a:rPr lang="en-US" altLang="zh-CN" dirty="0"/>
              <a:t>WebSocket</a:t>
            </a:r>
            <a:r>
              <a:rPr lang="zh-CN" altLang="en-US" dirty="0"/>
              <a:t>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55664" y="1920240"/>
            <a:ext cx="4809744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29984" y="2194560"/>
            <a:ext cx="426110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问题二：黑客越权注入越过沙箱边界</a:t>
            </a:r>
          </a:p>
          <a:p>
            <a:pPr>
              <a:spcAft>
                <a:spcPts val="1400"/>
              </a:spcAft>
              <a:defRPr sz="1300">
                <a:solidFill>
                  <a:srgbClr val="E07A5F"/>
                </a:solidFill>
                <a:latin typeface="Microsoft YaHei"/>
              </a:defRPr>
            </a:pPr>
            <a:r>
              <a:rPr lang="en-US" altLang="zh-CN" dirty="0"/>
              <a:t>—— 【</a:t>
            </a:r>
            <a:r>
              <a:rPr lang="zh-CN" altLang="en-US" dirty="0"/>
              <a:t>解决思路</a:t>
            </a:r>
            <a:r>
              <a:rPr lang="en-US" altLang="zh-CN" dirty="0"/>
              <a:t>】</a:t>
            </a:r>
            <a:r>
              <a:rPr lang="zh-CN" altLang="en-US" dirty="0"/>
              <a:t>严控绝对路径并彻底封杀 </a:t>
            </a:r>
            <a:r>
              <a:rPr lang="en-US" altLang="zh-CN" dirty="0"/>
              <a:t>../</a:t>
            </a:r>
          </a:p>
          <a:p>
            <a:pPr>
              <a:defRPr sz="1200">
                <a:solidFill>
                  <a:srgbClr val="333333"/>
                </a:solidFill>
                <a:latin typeface="Microsoft YaHei"/>
              </a:defRPr>
            </a:pPr>
            <a:r>
              <a:rPr lang="zh-CN" altLang="en-US" dirty="0"/>
              <a:t>大模型在解释复杂模糊的相对路径（例如 </a:t>
            </a:r>
            <a:r>
              <a:rPr lang="en-US" altLang="zh-CN" dirty="0"/>
              <a:t>`../../workspace/test.txt`</a:t>
            </a:r>
            <a:r>
              <a:rPr lang="zh-CN" altLang="en-US" dirty="0"/>
              <a:t>）时，由于缺乏前缀严格校验，有可能绕过简单的前缀匹配检测，在宿主机其他敏感目录读写文件。</a:t>
            </a:r>
            <a:br>
              <a:rPr lang="zh-CN" altLang="en-US" dirty="0"/>
            </a:br>
            <a:br>
              <a:rPr lang="zh-CN" altLang="en-US" dirty="0"/>
            </a:br>
            <a:r>
              <a:rPr lang="en-US" altLang="zh-CN" dirty="0"/>
              <a:t>【</a:t>
            </a:r>
            <a:r>
              <a:rPr lang="zh-CN" altLang="en-US" dirty="0"/>
              <a:t>解决方案</a:t>
            </a:r>
            <a:r>
              <a:rPr lang="en-US" altLang="zh-CN" dirty="0"/>
              <a:t>】</a:t>
            </a:r>
            <a:r>
              <a:rPr lang="zh-CN" altLang="en-US" dirty="0"/>
              <a:t>彻底摒弃原有的字符串前缀包含检测。使用 </a:t>
            </a:r>
            <a:r>
              <a:rPr lang="en-US" altLang="zh-CN" dirty="0"/>
              <a:t>Python </a:t>
            </a:r>
            <a:r>
              <a:rPr lang="zh-CN" altLang="en-US" dirty="0"/>
              <a:t>原生系统的 </a:t>
            </a:r>
            <a:r>
              <a:rPr lang="en-US" altLang="zh-CN" dirty="0"/>
              <a:t>`(workspace / path).resolve()` </a:t>
            </a:r>
            <a:r>
              <a:rPr lang="zh-CN" altLang="en-US" dirty="0"/>
              <a:t>机制强制将其彻底转义为不带 </a:t>
            </a:r>
            <a:r>
              <a:rPr lang="en-US" altLang="zh-CN" dirty="0"/>
              <a:t>`../` </a:t>
            </a:r>
            <a:r>
              <a:rPr lang="zh-CN" altLang="en-US" dirty="0"/>
              <a:t>等欺骗性字符的绝对物理路径，再进行 </a:t>
            </a:r>
            <a:r>
              <a:rPr lang="en-US" altLang="zh-CN" dirty="0"/>
              <a:t>`.</a:t>
            </a:r>
            <a:r>
              <a:rPr lang="en-US" altLang="zh-CN" dirty="0" err="1"/>
              <a:t>startswith</a:t>
            </a:r>
            <a:r>
              <a:rPr lang="en-US" altLang="zh-CN" dirty="0"/>
              <a:t>` </a:t>
            </a:r>
            <a:r>
              <a:rPr lang="zh-CN" altLang="en-US" dirty="0"/>
              <a:t>比对，实现底层安全。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成员过程体会与反思</a:t>
            </a:r>
          </a:p>
          <a:p>
            <a:pPr>
              <a:defRPr sz="1400">
                <a:solidFill>
                  <a:srgbClr val="E07A5F"/>
                </a:solidFill>
                <a:latin typeface="Microsoft YaHei"/>
              </a:defRPr>
            </a:pPr>
            <a:r>
              <a:rPr lang="zh-CN" altLang="en-US" dirty="0"/>
              <a:t>团队在多协议融合、沙箱开发与自动化安全测试中的技术沉淀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62556" y="1920240"/>
            <a:ext cx="2313432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345436" y="2017222"/>
            <a:ext cx="1947672" cy="151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3F59"/>
                </a:solidFill>
                <a:latin typeface="Microsoft YaHei"/>
              </a:defRPr>
            </a:pPr>
            <a:r>
              <a:rPr lang="en-US" altLang="zh-CN" dirty="0"/>
              <a:t>[</a:t>
            </a:r>
            <a:r>
              <a:rPr lang="zh-CN" altLang="en-US" dirty="0"/>
              <a:t>胡敏逸</a:t>
            </a:r>
            <a:r>
              <a:rPr lang="en-US" altLang="zh-CN" dirty="0"/>
              <a:t>/ </a:t>
            </a:r>
            <a:r>
              <a:rPr lang="zh-CN" altLang="en-US" dirty="0"/>
              <a:t>组长</a:t>
            </a:r>
            <a:r>
              <a:rPr lang="en-US" altLang="zh-CN" dirty="0"/>
              <a:t>]</a:t>
            </a:r>
          </a:p>
          <a:p>
            <a:pPr>
              <a:defRPr sz="1200">
                <a:solidFill>
                  <a:srgbClr val="333333"/>
                </a:solidFill>
                <a:latin typeface="Microsoft YaHei"/>
              </a:defRPr>
            </a:pPr>
            <a:r>
              <a:rPr lang="zh-CN" altLang="en-US" dirty="0"/>
              <a:t>大模型的多协议适配与 </a:t>
            </a:r>
            <a:r>
              <a:rPr lang="en-US" altLang="zh-CN" dirty="0"/>
              <a:t>WebSocket </a:t>
            </a:r>
            <a:r>
              <a:rPr lang="zh-CN" altLang="en-US" dirty="0"/>
              <a:t>长连接整合，让我深刻认识到解耦抽象层设计的价值。后续还需重点解决长会话的高可用熔断降级控制。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64047" y="1920240"/>
            <a:ext cx="2313432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46927" y="2017222"/>
            <a:ext cx="1947672" cy="1882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13F59"/>
                </a:solidFill>
                <a:latin typeface="Microsoft YaHei"/>
              </a:defRPr>
            </a:pPr>
            <a:r>
              <a:rPr lang="en-US" altLang="zh-CN" dirty="0"/>
              <a:t>[</a:t>
            </a:r>
            <a:r>
              <a:rPr lang="zh-CN" altLang="en-US" dirty="0"/>
              <a:t>叶梓竣</a:t>
            </a:r>
            <a:r>
              <a:rPr lang="en-US" altLang="zh-CN" dirty="0"/>
              <a:t>]</a:t>
            </a:r>
          </a:p>
          <a:p>
            <a:pPr>
              <a:spcAft>
                <a:spcPts val="1200"/>
              </a:spcAft>
              <a:defRPr sz="1400" b="1">
                <a:solidFill>
                  <a:srgbClr val="E07A5F"/>
                </a:solidFill>
                <a:latin typeface="Microsoft YaHei"/>
              </a:defRPr>
            </a:pPr>
            <a:r>
              <a:rPr lang="zh-CN" altLang="en-US" dirty="0"/>
              <a:t>贡献权重</a:t>
            </a:r>
            <a:r>
              <a:rPr lang="en-US" altLang="zh-CN" dirty="0"/>
              <a:t>: 30%</a:t>
            </a:r>
          </a:p>
          <a:p>
            <a:pPr>
              <a:defRPr sz="1200">
                <a:solidFill>
                  <a:srgbClr val="333333"/>
                </a:solidFill>
                <a:latin typeface="Microsoft YaHei"/>
              </a:defRPr>
            </a:pPr>
            <a:r>
              <a:rPr lang="zh-CN" altLang="en-US" dirty="0"/>
              <a:t>在集成 </a:t>
            </a:r>
            <a:r>
              <a:rPr lang="en-US" altLang="zh-CN" dirty="0" err="1"/>
              <a:t>PaddleOCR</a:t>
            </a:r>
            <a:r>
              <a:rPr lang="zh-CN" altLang="en-US" dirty="0"/>
              <a:t> 离线处理和 </a:t>
            </a:r>
            <a:r>
              <a:rPr lang="en-US" altLang="zh-CN" dirty="0" err="1"/>
              <a:t>safe_path</a:t>
            </a:r>
            <a:r>
              <a:rPr lang="zh-CN" altLang="en-US" dirty="0"/>
              <a:t> 安全代码的过程中，我学到了如何给大模型本地运行戴上‘安全枷锁’，容器隔离任重道远。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总结与下一步升级展望</a:t>
            </a:r>
          </a:p>
          <a:p>
            <a:pPr>
              <a:defRPr sz="1400">
                <a:solidFill>
                  <a:srgbClr val="E07A5F"/>
                </a:solidFill>
                <a:latin typeface="Microsoft YaHei"/>
              </a:defRPr>
            </a:pPr>
            <a:r>
              <a:rPr lang="zh-CN" altLang="en-US" dirty="0"/>
              <a:t>直面短板，构建高可用生产级 </a:t>
            </a:r>
            <a:r>
              <a:rPr lang="en-US" altLang="zh-CN" dirty="0"/>
              <a:t>Agent </a:t>
            </a:r>
            <a:r>
              <a:rPr lang="zh-CN" altLang="en-US" dirty="0"/>
              <a:t>系统的进化路径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3145536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277977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隔离安全性升级</a:t>
            </a:r>
          </a:p>
          <a:p>
            <a:pPr>
              <a:spcAft>
                <a:spcPts val="1000"/>
              </a:spcAft>
              <a:defRPr sz="1200">
                <a:solidFill>
                  <a:srgbClr val="E07A5F"/>
                </a:solidFill>
                <a:latin typeface="Microsoft YaHei"/>
              </a:defRPr>
            </a:pPr>
            <a:r>
              <a:rPr lang="en-US" altLang="zh-CN" dirty="0"/>
              <a:t>—— </a:t>
            </a:r>
            <a:r>
              <a:rPr lang="zh-CN" altLang="en-US" dirty="0"/>
              <a:t>彻底隔离本地物理机</a:t>
            </a:r>
          </a:p>
          <a:p>
            <a:pPr>
              <a:defRPr sz="1100">
                <a:solidFill>
                  <a:srgbClr val="333333"/>
                </a:solidFill>
                <a:latin typeface="Microsoft YaHei"/>
              </a:defRPr>
            </a:pPr>
            <a:r>
              <a:rPr lang="en-US" altLang="zh-CN" dirty="0"/>
              <a:t>【</a:t>
            </a:r>
            <a:r>
              <a:rPr lang="zh-CN" altLang="en-US" dirty="0"/>
              <a:t>现状</a:t>
            </a:r>
            <a:r>
              <a:rPr lang="en-US" altLang="zh-CN" dirty="0"/>
              <a:t>】Shell</a:t>
            </a:r>
            <a:r>
              <a:rPr lang="zh-CN" altLang="en-US" dirty="0"/>
              <a:t> 执行器仍在物理机工作空间下直接执行命令，仍有误操作隐患。</a:t>
            </a:r>
            <a:br>
              <a:rPr lang="zh-CN" altLang="en-US" dirty="0"/>
            </a:br>
            <a:r>
              <a:rPr lang="en-US" altLang="zh-CN" dirty="0"/>
              <a:t>【</a:t>
            </a:r>
            <a:r>
              <a:rPr lang="zh-CN" altLang="en-US" dirty="0"/>
              <a:t>展望</a:t>
            </a:r>
            <a:r>
              <a:rPr lang="en-US" altLang="zh-CN" dirty="0"/>
              <a:t>】</a:t>
            </a:r>
            <a:r>
              <a:rPr lang="zh-CN" altLang="en-US" dirty="0"/>
              <a:t>下一阶段，整个子进程工具服务（</a:t>
            </a:r>
            <a:r>
              <a:rPr lang="en-US" altLang="zh-CN" dirty="0"/>
              <a:t>`server.py`</a:t>
            </a:r>
            <a:r>
              <a:rPr lang="zh-CN" altLang="en-US" dirty="0"/>
              <a:t>）将整体装入轻量级 </a:t>
            </a:r>
            <a:r>
              <a:rPr lang="en-US" altLang="zh-CN" dirty="0"/>
              <a:t>Docker </a:t>
            </a:r>
            <a:r>
              <a:rPr lang="zh-CN" altLang="en-US" dirty="0"/>
              <a:t>容器。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17136" y="1920240"/>
            <a:ext cx="3145536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00016" y="2103120"/>
            <a:ext cx="277977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会话历史持久化</a:t>
            </a:r>
          </a:p>
          <a:p>
            <a:pPr>
              <a:spcAft>
                <a:spcPts val="1000"/>
              </a:spcAft>
              <a:defRPr sz="1200">
                <a:solidFill>
                  <a:srgbClr val="E07A5F"/>
                </a:solidFill>
                <a:latin typeface="Microsoft YaHei"/>
              </a:defRPr>
            </a:pPr>
            <a:r>
              <a:rPr lang="en-US" altLang="zh-CN" dirty="0"/>
              <a:t>—— </a:t>
            </a:r>
            <a:r>
              <a:rPr lang="zh-CN" altLang="en-US" dirty="0"/>
              <a:t>引入本地 </a:t>
            </a:r>
            <a:r>
              <a:rPr lang="en-US" altLang="zh-CN" dirty="0"/>
              <a:t>SQLite </a:t>
            </a:r>
            <a:r>
              <a:rPr lang="zh-CN" altLang="en-US" dirty="0"/>
              <a:t>嵌入库</a:t>
            </a:r>
          </a:p>
          <a:p>
            <a:pPr>
              <a:defRPr sz="1100">
                <a:solidFill>
                  <a:srgbClr val="333333"/>
                </a:solidFill>
                <a:latin typeface="Microsoft YaHei"/>
              </a:defRPr>
            </a:pPr>
            <a:r>
              <a:rPr lang="en-US" altLang="zh-CN" dirty="0"/>
              <a:t>【</a:t>
            </a:r>
            <a:r>
              <a:rPr lang="zh-CN" altLang="en-US" dirty="0"/>
              <a:t>现状</a:t>
            </a:r>
            <a:r>
              <a:rPr lang="en-US" altLang="zh-CN" dirty="0"/>
              <a:t>】</a:t>
            </a:r>
            <a:r>
              <a:rPr lang="zh-CN" altLang="en-US" dirty="0"/>
              <a:t>由于会话历史完全依托于 </a:t>
            </a:r>
            <a:r>
              <a:rPr lang="en-US" altLang="zh-CN" dirty="0"/>
              <a:t>WebSocket </a:t>
            </a:r>
            <a:r>
              <a:rPr lang="zh-CN" altLang="en-US" dirty="0"/>
              <a:t>内存，一旦中断重连历史将不复存在。</a:t>
            </a:r>
            <a:br>
              <a:rPr lang="zh-CN" altLang="en-US" dirty="0"/>
            </a:br>
            <a:r>
              <a:rPr lang="en-US" altLang="zh-CN" dirty="0"/>
              <a:t>【</a:t>
            </a:r>
            <a:r>
              <a:rPr lang="zh-CN" altLang="en-US" dirty="0"/>
              <a:t>展望</a:t>
            </a:r>
            <a:r>
              <a:rPr lang="en-US" altLang="zh-CN" dirty="0"/>
              <a:t>】</a:t>
            </a:r>
            <a:r>
              <a:rPr lang="zh-CN" altLang="en-US" dirty="0"/>
              <a:t>后续将加入 </a:t>
            </a:r>
            <a:r>
              <a:rPr lang="en-US" altLang="zh-CN" dirty="0"/>
              <a:t>SQLite </a:t>
            </a:r>
            <a:r>
              <a:rPr lang="zh-CN" altLang="en-US" dirty="0"/>
              <a:t>数据库，实现历史上下文持久化与历史节点管理。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920240"/>
            <a:ext cx="3145536" cy="4114800"/>
          </a:xfrm>
          <a:prstGeom prst="roundRect">
            <a:avLst/>
          </a:prstGeom>
          <a:solidFill>
            <a:srgbClr val="F1EFEA"/>
          </a:solidFill>
          <a:ln>
            <a:solidFill>
              <a:srgbClr val="F1E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02752" y="2103120"/>
            <a:ext cx="2779776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13F59"/>
                </a:solidFill>
                <a:latin typeface="Microsoft YaHei"/>
              </a:defRPr>
            </a:pPr>
            <a:r>
              <a:rPr lang="zh-CN" altLang="en-US" dirty="0"/>
              <a:t>错误自适应恢复</a:t>
            </a:r>
          </a:p>
          <a:p>
            <a:pPr>
              <a:spcAft>
                <a:spcPts val="1000"/>
              </a:spcAft>
              <a:defRPr sz="1200">
                <a:solidFill>
                  <a:srgbClr val="E07A5F"/>
                </a:solidFill>
                <a:latin typeface="Microsoft YaHei"/>
              </a:defRPr>
            </a:pPr>
            <a:r>
              <a:rPr lang="en-US" altLang="zh-CN" dirty="0"/>
              <a:t>—— </a:t>
            </a:r>
            <a:r>
              <a:rPr lang="zh-CN" altLang="en-US" dirty="0"/>
              <a:t>指数退避算法熔断机制</a:t>
            </a:r>
          </a:p>
          <a:p>
            <a:pPr>
              <a:defRPr sz="1100">
                <a:solidFill>
                  <a:srgbClr val="333333"/>
                </a:solidFill>
                <a:latin typeface="Microsoft YaHei"/>
              </a:defRPr>
            </a:pPr>
            <a:r>
              <a:rPr lang="en-US" altLang="zh-CN" dirty="0"/>
              <a:t>【</a:t>
            </a:r>
            <a:r>
              <a:rPr lang="zh-CN" altLang="en-US" dirty="0"/>
              <a:t>现状</a:t>
            </a:r>
            <a:r>
              <a:rPr lang="en-US" altLang="zh-CN" dirty="0"/>
              <a:t>】</a:t>
            </a:r>
            <a:r>
              <a:rPr lang="zh-CN" altLang="en-US" dirty="0"/>
              <a:t>若云端 </a:t>
            </a:r>
            <a:r>
              <a:rPr lang="en-US" altLang="zh-CN" dirty="0"/>
              <a:t>API </a:t>
            </a:r>
            <a:r>
              <a:rPr lang="zh-CN" altLang="en-US" dirty="0"/>
              <a:t>超时，链路有可能抛出 </a:t>
            </a:r>
            <a:r>
              <a:rPr lang="en-US" altLang="zh-CN" dirty="0"/>
              <a:t>Exception </a:t>
            </a:r>
            <a:r>
              <a:rPr lang="zh-CN" altLang="en-US" dirty="0"/>
              <a:t>导致 </a:t>
            </a:r>
            <a:r>
              <a:rPr lang="en-US" altLang="zh-CN" dirty="0"/>
              <a:t>WebSocket </a:t>
            </a:r>
            <a:r>
              <a:rPr lang="zh-CN" altLang="en-US" dirty="0"/>
              <a:t>挂断。</a:t>
            </a:r>
            <a:br>
              <a:rPr lang="zh-CN" altLang="en-US" dirty="0"/>
            </a:br>
            <a:r>
              <a:rPr lang="en-US" altLang="zh-CN" dirty="0"/>
              <a:t>【</a:t>
            </a:r>
            <a:r>
              <a:rPr lang="zh-CN" altLang="en-US" dirty="0"/>
              <a:t>展望</a:t>
            </a:r>
            <a:r>
              <a:rPr lang="en-US" altLang="zh-CN" dirty="0"/>
              <a:t>】</a:t>
            </a:r>
            <a:r>
              <a:rPr lang="zh-CN" altLang="en-US" dirty="0"/>
              <a:t>未来将在中转网关注入自适应退避与重试控制，在大面积掉网时优雅反馈提示。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2849</Words>
  <Application>Microsoft Office PowerPoint</Application>
  <PresentationFormat>宽屏</PresentationFormat>
  <Paragraphs>145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mini fu</cp:lastModifiedBy>
  <cp:revision>3</cp:revision>
  <dcterms:created xsi:type="dcterms:W3CDTF">2013-01-27T09:14:16Z</dcterms:created>
  <dcterms:modified xsi:type="dcterms:W3CDTF">2026-05-24T12:44:10Z</dcterms:modified>
  <cp:category/>
</cp:coreProperties>
</file>